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719" r:id="rId6"/>
    <p:sldMasterId id="2147483739" r:id="rId7"/>
    <p:sldMasterId id="2147483761" r:id="rId8"/>
  </p:sldMasterIdLst>
  <p:notesMasterIdLst>
    <p:notesMasterId r:id="rId18"/>
  </p:notesMasterIdLst>
  <p:sldIdLst>
    <p:sldId id="269" r:id="rId9"/>
    <p:sldId id="2147483597" r:id="rId10"/>
    <p:sldId id="318" r:id="rId11"/>
    <p:sldId id="2147483591" r:id="rId12"/>
    <p:sldId id="2147483584" r:id="rId13"/>
    <p:sldId id="2147483592" r:id="rId14"/>
    <p:sldId id="2147483593" r:id="rId15"/>
    <p:sldId id="2147483594" r:id="rId16"/>
    <p:sldId id="21474835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A2E3"/>
    <a:srgbClr val="67C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C15FC-A3FA-4299-B6EF-607730A8F221}" v="1" dt="2026-09-17T11:12:15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056" autoAdjust="0"/>
  </p:normalViewPr>
  <p:slideViewPr>
    <p:cSldViewPr snapToGrid="0">
      <p:cViewPr varScale="1">
        <p:scale>
          <a:sx n="87" d="100"/>
          <a:sy n="87" d="100"/>
        </p:scale>
        <p:origin x="14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microsoft.com/office/2016/11/relationships/changesInfo" Target="changesInfos/changesInfo1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knur Chulani" userId="f8eef11b-11c8-43d3-bd94-2fb9e022f69b" providerId="ADAL" clId="{AAE02C72-6A89-4608-9579-640796828AF5}"/>
    <pc:docChg chg="undo redo custSel addSld delSld modSld sldOrd modMainMaster addSection delSection modSection">
      <pc:chgData name="Ilknur Chulani" userId="f8eef11b-11c8-43d3-bd94-2fb9e022f69b" providerId="ADAL" clId="{AAE02C72-6A89-4608-9579-640796828AF5}" dt="2026-09-17T11:12:17.276" v="1997" actId="6549"/>
      <pc:docMkLst>
        <pc:docMk/>
      </pc:docMkLst>
      <pc:sldChg chg="modSp add mod">
        <pc:chgData name="Ilknur Chulani" userId="f8eef11b-11c8-43d3-bd94-2fb9e022f69b" providerId="ADAL" clId="{AAE02C72-6A89-4608-9579-640796828AF5}" dt="2026-09-17T11:12:17.276" v="1997" actId="6549"/>
        <pc:sldMkLst>
          <pc:docMk/>
          <pc:sldMk cId="344249462" sldId="2147483598"/>
        </pc:sldMkLst>
        <pc:spChg chg="mod">
          <ac:chgData name="Ilknur Chulani" userId="f8eef11b-11c8-43d3-bd94-2fb9e022f69b" providerId="ADAL" clId="{AAE02C72-6A89-4608-9579-640796828AF5}" dt="2026-09-17T11:12:17.276" v="1997" actId="6549"/>
          <ac:spMkLst>
            <pc:docMk/>
            <pc:sldMk cId="344249462" sldId="2147483598"/>
            <ac:spMk id="6" creationId="{FC2E5EB4-21FB-C68A-CC05-735C886F8F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1C8C8-71E4-46A9-8A87-E5FD151CDA97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D8385-8C2D-49F7-9027-28130A0C7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0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D8385-8C2D-49F7-9027-28130A0C79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2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4CF7E-A000-4F03-B9E9-A95EA5FAB4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856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50863" y="539750"/>
            <a:ext cx="5761037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1EA85C-1E60-47F9-897E-616084E20A8E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133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87AD-15C7-9F1A-7B6D-EF13916B9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EEB98-A9BD-73EE-D3B8-41FAF479D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90D32-92D8-470F-5B1F-E0478BAE6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Notes: 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diagram maps the relationships between the concepts, not intending to follow a process/runtime flow order, but focusing on highlighting relationships and dependencies between them.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  <a:p>
            <a:endParaRPr lang="en-GB" dirty="0"/>
          </a:p>
          <a:p>
            <a:pPr marL="228600" indent="-228600">
              <a:buAutoNum type="arabicPeriod"/>
            </a:pPr>
            <a:r>
              <a:rPr lang="en-GB" b="1" dirty="0"/>
              <a:t>Maintaining Control </a:t>
            </a:r>
            <a:r>
              <a:rPr lang="en-GB" b="0" dirty="0"/>
              <a:t>and</a:t>
            </a:r>
            <a:r>
              <a:rPr lang="en-GB" b="1" dirty="0"/>
              <a:t> Interoperability </a:t>
            </a:r>
            <a:r>
              <a:rPr lang="en-GB" dirty="0"/>
              <a:t>are also mandatory DS characteristic from ISO 20151, but not included in this diagram as separate blocks since they are achieved by elements in multiple of these blocks </a:t>
            </a:r>
          </a:p>
          <a:p>
            <a:pPr marL="228600" indent="-228600">
              <a:buAutoNum type="arabicPeriod"/>
            </a:pPr>
            <a:endParaRPr lang="en-GB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Multi-level policies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(i.e. membership policies at data space level, access policies for controlled discovery of metadata, data sharing contract policies, data use policies) needed in a data space are depicted vertically in this picture to express how they are applied in an overarching way  across different levels.   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661AD-AE99-3A03-9CCA-B52609989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4CF7E-A000-4F03-B9E9-A95EA5FAB4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09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60DEB-0FD3-61D2-DF84-1BB7B948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204E1-017A-E308-B750-214F3F9B5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49837-948A-0C29-C884-ACEB535E8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The </a:t>
            </a:r>
            <a:r>
              <a:rPr lang="de-DE" err="1"/>
              <a:t>current</a:t>
            </a:r>
            <a:r>
              <a:rPr lang="de-DE"/>
              <a:t> </a:t>
            </a:r>
            <a:r>
              <a:rPr lang="de-DE" err="1"/>
              <a:t>naming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capabilities</a:t>
            </a:r>
            <a:r>
              <a:rPr lang="de-DE"/>
              <a:t> in RAM, </a:t>
            </a:r>
            <a:r>
              <a:rPr lang="de-DE" err="1"/>
              <a:t>as</a:t>
            </a:r>
            <a:r>
              <a:rPr lang="de-DE"/>
              <a:t> per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structure</a:t>
            </a:r>
            <a:r>
              <a:rPr lang="de-DE"/>
              <a:t> on: https://github.com/International-Data-Spaces-Association/IDS-RAM/tree/main/Principles</a:t>
            </a:r>
          </a:p>
          <a:p>
            <a:endParaRPr lang="de-DE"/>
          </a:p>
          <a:p>
            <a:r>
              <a:rPr lang="de-DE"/>
              <a:t>Notes: </a:t>
            </a:r>
          </a:p>
          <a:p>
            <a:endParaRPr lang="de-DE"/>
          </a:p>
          <a:p>
            <a:r>
              <a:rPr lang="de-DE" err="1"/>
              <a:t>Governance</a:t>
            </a:r>
            <a:r>
              <a:rPr lang="de-DE"/>
              <a:t> Authority and Trust </a:t>
            </a:r>
            <a:r>
              <a:rPr lang="de-DE" err="1"/>
              <a:t>frameworks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not </a:t>
            </a:r>
            <a:r>
              <a:rPr lang="de-DE" err="1"/>
              <a:t>technical</a:t>
            </a:r>
            <a:r>
              <a:rPr lang="de-DE"/>
              <a:t> </a:t>
            </a:r>
            <a:r>
              <a:rPr lang="de-DE" err="1"/>
              <a:t>artifacts</a:t>
            </a:r>
            <a:r>
              <a:rPr lang="de-DE"/>
              <a:t>  in </a:t>
            </a:r>
            <a:r>
              <a:rPr lang="de-DE" err="1"/>
              <a:t>the</a:t>
            </a:r>
            <a:r>
              <a:rPr lang="de-DE"/>
              <a:t> RAM , but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Rulebook</a:t>
            </a:r>
            <a:endParaRPr lang="de-DE"/>
          </a:p>
          <a:p>
            <a:endParaRPr lang="de-DE"/>
          </a:p>
          <a:p>
            <a:r>
              <a:rPr lang="de-DE"/>
              <a:t>Optional </a:t>
            </a:r>
            <a:r>
              <a:rPr lang="de-DE" err="1"/>
              <a:t>services</a:t>
            </a:r>
            <a:r>
              <a:rPr lang="de-DE"/>
              <a:t> and Data Plane </a:t>
            </a:r>
            <a:r>
              <a:rPr lang="de-DE" err="1"/>
              <a:t>are</a:t>
            </a:r>
            <a:r>
              <a:rPr lang="de-DE"/>
              <a:t> out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scope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RAM</a:t>
            </a:r>
          </a:p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6BB76-32E0-2742-BC0C-C68BBF11D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4CF7E-A000-4F03-B9E9-A95EA5FAB4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612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A54E2-D382-8C87-B6C0-5FBB0D85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47232-3D1E-6739-F6A7-F8CCD68BF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DF766-BB7D-A428-C592-646F313AA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The </a:t>
            </a:r>
            <a:r>
              <a:rPr lang="de-DE" err="1"/>
              <a:t>current</a:t>
            </a:r>
            <a:r>
              <a:rPr lang="de-DE"/>
              <a:t> </a:t>
            </a:r>
            <a:r>
              <a:rPr lang="de-DE" err="1"/>
              <a:t>naming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capabilities</a:t>
            </a:r>
            <a:r>
              <a:rPr lang="de-DE"/>
              <a:t> in IDS-RAM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version</a:t>
            </a:r>
            <a:r>
              <a:rPr lang="de-DE"/>
              <a:t>, </a:t>
            </a:r>
            <a:r>
              <a:rPr lang="de-DE" err="1"/>
              <a:t>as</a:t>
            </a:r>
            <a:r>
              <a:rPr lang="de-DE"/>
              <a:t> per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structure</a:t>
            </a:r>
            <a:r>
              <a:rPr lang="de-DE"/>
              <a:t> on: https://github.com/International-Data-Spaces-Association/IDS-RAM/tree/main/Principles</a:t>
            </a:r>
          </a:p>
          <a:p>
            <a:endParaRPr lang="de-DE"/>
          </a:p>
          <a:p>
            <a:r>
              <a:rPr lang="de-DE"/>
              <a:t>Notes: </a:t>
            </a:r>
          </a:p>
          <a:p>
            <a:endParaRPr lang="de-DE"/>
          </a:p>
          <a:p>
            <a:r>
              <a:rPr lang="de-DE" err="1"/>
              <a:t>Governance</a:t>
            </a:r>
            <a:r>
              <a:rPr lang="de-DE"/>
              <a:t> Authority and Trust </a:t>
            </a:r>
            <a:r>
              <a:rPr lang="de-DE" err="1"/>
              <a:t>frameworks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not </a:t>
            </a:r>
            <a:r>
              <a:rPr lang="de-DE" err="1"/>
              <a:t>technical</a:t>
            </a:r>
            <a:r>
              <a:rPr lang="de-DE"/>
              <a:t> </a:t>
            </a:r>
            <a:r>
              <a:rPr lang="de-DE" err="1"/>
              <a:t>artifacts</a:t>
            </a:r>
            <a:r>
              <a:rPr lang="de-DE"/>
              <a:t>  in </a:t>
            </a:r>
            <a:r>
              <a:rPr lang="de-DE" err="1"/>
              <a:t>the</a:t>
            </a:r>
            <a:r>
              <a:rPr lang="de-DE"/>
              <a:t> RAM , but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Rulebook</a:t>
            </a:r>
            <a:endParaRPr lang="de-DE"/>
          </a:p>
          <a:p>
            <a:endParaRPr lang="de-DE"/>
          </a:p>
          <a:p>
            <a:r>
              <a:rPr lang="de-DE"/>
              <a:t>Optional </a:t>
            </a:r>
            <a:r>
              <a:rPr lang="de-DE" err="1"/>
              <a:t>services</a:t>
            </a:r>
            <a:r>
              <a:rPr lang="de-DE"/>
              <a:t> and Data Plane </a:t>
            </a:r>
            <a:r>
              <a:rPr lang="de-DE" err="1"/>
              <a:t>are</a:t>
            </a:r>
            <a:r>
              <a:rPr lang="de-DE"/>
              <a:t> out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scope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RAM</a:t>
            </a:r>
          </a:p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D1882-B6EC-470F-EC3F-780542C65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4CF7E-A000-4F03-B9E9-A95EA5FAB4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369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E209-1A1B-C2C0-D7CF-5571C498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8406C-F7A3-7629-2D2F-DCC48A97C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5B176-E378-7CF9-D326-07B48EF4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Notes: </a:t>
            </a:r>
          </a:p>
          <a:p>
            <a:endParaRPr lang="en-GB"/>
          </a:p>
          <a:p>
            <a:r>
              <a:rPr lang="en-GB"/>
              <a:t>1. </a:t>
            </a:r>
            <a:r>
              <a:rPr lang="en-GB" b="1"/>
              <a:t>Maintaining Control </a:t>
            </a:r>
            <a:r>
              <a:rPr lang="en-GB" b="0"/>
              <a:t>and</a:t>
            </a:r>
            <a:r>
              <a:rPr lang="en-GB" b="1"/>
              <a:t> Interoperability </a:t>
            </a:r>
            <a:r>
              <a:rPr lang="en-GB"/>
              <a:t>are also mandatory DS characteristic from ISO 20151, but not included in this diagram as separate blocks since they are achieved by elements in multiple of these blocks </a:t>
            </a:r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8A283-FDCE-27AD-EE99-EFB6DC543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4CF7E-A000-4F03-B9E9-A95EA5FAB4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689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4.png"/></Relationships>
</file>

<file path=ppt/slideLayouts/_rels/slideLayout10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1.emf"/><Relationship Id="rId5" Type="http://schemas.openxmlformats.org/officeDocument/2006/relationships/tags" Target="../tags/tag5.xml"/><Relationship Id="rId10" Type="http://schemas.openxmlformats.org/officeDocument/2006/relationships/oleObject" Target="../embeddings/oleObject1.bin"/><Relationship Id="rId4" Type="http://schemas.openxmlformats.org/officeDocument/2006/relationships/tags" Target="../tags/tag4.xml"/><Relationship Id="rId9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F2B0-7B74-BF41-CBA4-B1DCA3BEB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C04B9-0A1A-8C0D-A8B1-491856FA5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A312D-AA58-71BC-690C-2F333AF9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CDFE4-B34E-304E-5AAB-E96B920E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D0897-FF94-595B-DE57-AB9D14BA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2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BEFF-AB2E-6451-94DB-4513B54E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F322-6C02-6507-7C64-2157F6B97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87605-AFF6-AA46-EBE9-6575E8ED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F6E32-D0F3-B272-7485-8D0F7D25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91C30-33E8-6322-9C19-C06BDEF1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88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797D-529F-98CB-5A94-562930E3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ED936-C3E7-B8E3-4D7B-16B1142F8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59CF-4D64-9394-410B-846F7D07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C42A7-E630-2F3B-6F05-3588C9371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4737F-D167-D758-E9A5-63605085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3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D67F-33C6-9813-68DE-2417A54A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CA756-6A68-6D80-A69C-6E86E4D27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4D875-B3D4-D4EC-9198-6DBE90551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FEE65-5370-459E-FC15-128443EC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EA261-6071-68A6-39E9-C35704EA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170A0-0336-2CED-A1A1-D62D96F5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98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5BB3-D36E-E026-D6B6-38B45C70F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F0867-B0AF-BFD5-9D85-D9BB90475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3DE26-B45E-4EF1-53DA-CF7A0B522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DC119-A340-E797-DCFA-D3AE23C56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47169C-2CBB-7B95-6255-2A5CB46D0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CA1AD-7967-7920-C919-23862996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272C1-259C-5F1E-D52E-EA9850509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BCA91D-285A-588F-5394-E1E5BF4D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5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C90E-0B3D-20B7-A7FD-E2CCB4B2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B3E02-A2E3-3744-0485-4FA8999A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E6AAE-687D-1FB7-7E04-7117AA04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2403D-ADDC-3329-8BA2-228E61AC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2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30F48-3DCB-8C2D-7842-2A4126D9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B99899-C32A-4352-1652-27DE23E5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F1FDA-07F9-0F88-06DC-1625043D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6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6B2B-51DA-C06C-8880-69AC8D1A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BC260-F256-2831-99F1-1D700137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F2C50-ABA8-80FB-AA72-49CA5CF69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A5F2C-4BE1-18E6-D9E2-C66415E3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242C8-289A-12F1-92EA-B5BF8E63F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2289C-93FD-8D37-38B5-C926CF03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6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5A7D-861D-E211-9284-26A85BD4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43A0D-ABB0-509A-BF89-EFFAE07C8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B43A3-892C-1B6E-B99C-019C8371B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2103B-2AC4-DC9D-FA3D-A90199EB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EB122-7C4F-BB80-8F8A-17F99A34A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4890A-8904-4BD2-5388-5C73C9B4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8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E93E-C8F8-7912-E32D-3FCCB567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CA94B-12FE-98A5-7DC9-04D31CD5F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608EE-FE3D-F096-A97D-1232AB29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94836-0553-51FA-17DE-6A260B1A0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17AA0-3359-9FFD-D111-CD8230D2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8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391B01-D7B0-AAD1-F7B9-519D039CF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573D6-B45A-B8BC-0024-FB1C65CDC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3A965-188A-B7BE-B196-47A305010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EBC20-928E-5193-F569-8685A060D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4705-8604-5864-D797-B4D61D2F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26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158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186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677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034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1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</p:spTree>
    <p:extLst>
      <p:ext uri="{BB962C8B-B14F-4D97-AF65-F5344CB8AC3E}">
        <p14:creationId xmlns:p14="http://schemas.microsoft.com/office/powerpoint/2010/main" val="2118273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8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2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916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1556792"/>
            <a:ext cx="10658475" cy="45360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3399081-B28F-4ABA-A951-E201993748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099518-9EB8-41FF-B9F6-30B2EC8991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964473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748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48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551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39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083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001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04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8DCEB5-9155-4443-B053-FBB3478A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797D52-6AEB-41D2-BC95-741F2F3D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393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orient="horz" pos="1344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219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8CD0FA8F-1345-4EF2-8691-A68DDE9755A8}"/>
              </a:ext>
            </a:extLst>
          </p:cNvPr>
          <p:cNvSpPr/>
          <p:nvPr userDrawn="1"/>
        </p:nvSpPr>
        <p:spPr bwMode="gray">
          <a:xfrm>
            <a:off x="5394586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459C78-BBBF-4479-85FB-364180723BB6}"/>
              </a:ext>
            </a:extLst>
          </p:cNvPr>
          <p:cNvSpPr/>
          <p:nvPr userDrawn="1"/>
        </p:nvSpPr>
        <p:spPr bwMode="gray">
          <a:xfrm>
            <a:off x="8778578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A718E8-9C93-457E-88A6-5B2F72A76218}"/>
              </a:ext>
            </a:extLst>
          </p:cNvPr>
          <p:cNvSpPr/>
          <p:nvPr userDrawn="1"/>
        </p:nvSpPr>
        <p:spPr bwMode="gray">
          <a:xfrm>
            <a:off x="2010594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129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236BD-F32B-49D8-9F01-5909BFB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1FED50-E4A3-4EBE-B38A-E17AF3F9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71864" y="3144355"/>
            <a:ext cx="2447912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4876430" y="3576370"/>
            <a:ext cx="244791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8040592" y="3576337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Address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8040592" y="4152215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8040592" y="4728059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8040592" y="5297761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8040592" y="5805296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536160" y="3507293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7536160" y="4083872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7536160" y="4658435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7608112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7608112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8761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069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14608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978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97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</p:txBody>
      </p:sp>
    </p:spTree>
    <p:extLst>
      <p:ext uri="{BB962C8B-B14F-4D97-AF65-F5344CB8AC3E}">
        <p14:creationId xmlns:p14="http://schemas.microsoft.com/office/powerpoint/2010/main" val="1385257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21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0363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18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1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6374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Mastertextformat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8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906607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mu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1556792"/>
            <a:ext cx="10658475" cy="4536033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3399081-B28F-4ABA-A951-E201993748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099518-9EB8-41FF-B9F6-30B2EC8991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17187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24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66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17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537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39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432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462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208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8CD0FA8F-1345-4EF2-8691-A68DDE9755A8}"/>
              </a:ext>
            </a:extLst>
          </p:cNvPr>
          <p:cNvSpPr/>
          <p:nvPr userDrawn="1"/>
        </p:nvSpPr>
        <p:spPr bwMode="gray">
          <a:xfrm>
            <a:off x="5394586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459C78-BBBF-4479-85FB-364180723BB6}"/>
              </a:ext>
            </a:extLst>
          </p:cNvPr>
          <p:cNvSpPr/>
          <p:nvPr userDrawn="1"/>
        </p:nvSpPr>
        <p:spPr bwMode="gray">
          <a:xfrm>
            <a:off x="8778578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A718E8-9C93-457E-88A6-5B2F72A76218}"/>
              </a:ext>
            </a:extLst>
          </p:cNvPr>
          <p:cNvSpPr/>
          <p:nvPr userDrawn="1"/>
        </p:nvSpPr>
        <p:spPr bwMode="gray">
          <a:xfrm>
            <a:off x="2010594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403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236BD-F32B-49D8-9F01-5909BFB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1FED50-E4A3-4EBE-B38A-E17AF3F9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71864" y="3144355"/>
            <a:ext cx="2447912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4876430" y="3576370"/>
            <a:ext cx="244791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8040592" y="3576337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Address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8040592" y="4152215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8040592" y="4728059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8040592" y="5297761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8040592" y="5805296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536160" y="3507293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7536160" y="4083872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7536160" y="4658435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7608112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7608112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6775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069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elfol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A view of the earth from space&#10;&#10;Description automatically generated with low confidence">
            <a:extLst>
              <a:ext uri="{FF2B5EF4-FFF2-40B4-BE49-F238E27FC236}">
                <a16:creationId xmlns:a16="http://schemas.microsoft.com/office/drawing/2014/main" id="{EAAE45D3-8CF3-4BD0-AB6D-C5CCA64B76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6" descr="Text&#10;&#10;Description automatically generated">
            <a:extLst>
              <a:ext uri="{FF2B5EF4-FFF2-40B4-BE49-F238E27FC236}">
                <a16:creationId xmlns:a16="http://schemas.microsoft.com/office/drawing/2014/main" id="{7D949F2A-0C2C-4933-9C7F-DD81FD4F8C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46024" y="365125"/>
            <a:ext cx="1940858" cy="5748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F31B573-F80B-4BA5-989B-5ACE6677B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4752000"/>
            <a:ext cx="6839943" cy="792000"/>
          </a:xfrm>
          <a:solidFill>
            <a:schemeClr val="tx1"/>
          </a:solidFill>
        </p:spPr>
        <p:txBody>
          <a:bodyPr lIns="180000" rIns="180000" anchor="ctr" anchorCtr="0">
            <a:normAutofit/>
          </a:bodyPr>
          <a:lstStyle>
            <a:lvl1pPr algn="l">
              <a:defRPr sz="4800" b="1"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B34900D-F899-4614-BBFD-4B027A6EE3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5564472"/>
            <a:ext cx="4500000" cy="504000"/>
          </a:xfrm>
          <a:solidFill>
            <a:schemeClr val="tx1"/>
          </a:solidFill>
        </p:spPr>
        <p:txBody>
          <a:bodyPr lIns="180000" rIns="180000" anchor="ctr" anchorCtr="0">
            <a:normAutofit/>
          </a:bodyPr>
          <a:lstStyle>
            <a:lvl1pPr marL="0" indent="0" algn="l">
              <a:buNone/>
              <a:defRPr sz="2600" b="1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4099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6AB543-C436-4B00-AB8C-76379B84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fld id="{FB95B963-CBD6-47C4-B7CF-F60C897EE5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5C5441-54DD-4E25-992B-463A8B70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r>
              <a:rPr lang="de-DE"/>
              <a:t>Fußzeile</a:t>
            </a:r>
          </a:p>
        </p:txBody>
      </p:sp>
    </p:spTree>
    <p:extLst>
      <p:ext uri="{BB962C8B-B14F-4D97-AF65-F5344CB8AC3E}">
        <p14:creationId xmlns:p14="http://schemas.microsoft.com/office/powerpoint/2010/main" val="7242652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lide Smart 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9788" y="368299"/>
            <a:ext cx="8109003" cy="792163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160462"/>
            <a:ext cx="6835008" cy="660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600" i="1" kern="1200" baseline="0" dirty="0" smtClean="0">
                <a:solidFill>
                  <a:srgbClr val="00B7F3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SMART ART Title</a:t>
            </a:r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5"/>
          </p:nvPr>
        </p:nvSpPr>
        <p:spPr>
          <a:xfrm>
            <a:off x="839788" y="2168524"/>
            <a:ext cx="10514012" cy="3636963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US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800B3252-97CB-4C06-A219-044304B3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fld id="{FB95B963-CBD6-47C4-B7CF-F60C897EE5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516B367-9AC4-4223-82D3-6923ECE6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61179"/>
            <a:ext cx="717785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r>
              <a:rPr lang="de-DE"/>
              <a:t>Fußzeile</a:t>
            </a:r>
          </a:p>
        </p:txBody>
      </p:sp>
    </p:spTree>
    <p:extLst>
      <p:ext uri="{BB962C8B-B14F-4D97-AF65-F5344CB8AC3E}">
        <p14:creationId xmlns:p14="http://schemas.microsoft.com/office/powerpoint/2010/main" val="32993594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21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28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58124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320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1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</p:spTree>
    <p:extLst>
      <p:ext uri="{BB962C8B-B14F-4D97-AF65-F5344CB8AC3E}">
        <p14:creationId xmlns:p14="http://schemas.microsoft.com/office/powerpoint/2010/main" val="16546209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8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290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99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544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80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821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313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40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05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8CD0FA8F-1345-4EF2-8691-A68DDE9755A8}"/>
              </a:ext>
            </a:extLst>
          </p:cNvPr>
          <p:cNvSpPr/>
          <p:nvPr userDrawn="1"/>
        </p:nvSpPr>
        <p:spPr bwMode="gray">
          <a:xfrm>
            <a:off x="5394586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459C78-BBBF-4479-85FB-364180723BB6}"/>
              </a:ext>
            </a:extLst>
          </p:cNvPr>
          <p:cNvSpPr/>
          <p:nvPr userDrawn="1"/>
        </p:nvSpPr>
        <p:spPr bwMode="gray">
          <a:xfrm>
            <a:off x="8778578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A718E8-9C93-457E-88A6-5B2F72A76218}"/>
              </a:ext>
            </a:extLst>
          </p:cNvPr>
          <p:cNvSpPr/>
          <p:nvPr userDrawn="1"/>
        </p:nvSpPr>
        <p:spPr bwMode="gray">
          <a:xfrm>
            <a:off x="2010594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451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236BD-F32B-49D8-9F01-5909BFB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1FED50-E4A3-4EBE-B38A-E17AF3F9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71864" y="3144355"/>
            <a:ext cx="2447912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4876430" y="3576370"/>
            <a:ext cx="244791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8040592" y="3576337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Address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8040592" y="4152215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8040592" y="4728059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8040592" y="5297761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8040592" y="5805296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536160" y="3507293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7536160" y="4083872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7536160" y="4658435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7608112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7608112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23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069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5F291-B186-437B-9BD4-204251E78F38}" type="slidenum">
              <a:rPr kumimoji="0" lang="en-GB" sz="1000" b="0" i="1" u="none" strike="noStrike" kern="1200" cap="none" spc="0" normalizeH="0" baseline="0" noProof="0" smtClean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1" u="none" strike="noStrike" kern="1200" cap="none" spc="0" normalizeH="0" baseline="0" noProof="0">
              <a:ln>
                <a:noFill/>
              </a:ln>
              <a:solidFill>
                <a:srgbClr val="0BA2E3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679921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">
            <a:extLst>
              <a:ext uri="{FF2B5EF4-FFF2-40B4-BE49-F238E27FC236}">
                <a16:creationId xmlns:a16="http://schemas.microsoft.com/office/drawing/2014/main" id="{7ABD4DED-F51F-82EE-1A17-355883874B8E}"/>
              </a:ext>
            </a:extLst>
          </p:cNvPr>
          <p:cNvSpPr/>
          <p:nvPr userDrawn="1"/>
        </p:nvSpPr>
        <p:spPr bwMode="gray">
          <a:xfrm>
            <a:off x="766763" y="-171450"/>
            <a:ext cx="1081087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5" name="Rechteck 3">
            <a:extLst>
              <a:ext uri="{FF2B5EF4-FFF2-40B4-BE49-F238E27FC236}">
                <a16:creationId xmlns:a16="http://schemas.microsoft.com/office/drawing/2014/main" id="{637B9A71-0274-EF67-5D79-8E24CBEDB222}"/>
              </a:ext>
            </a:extLst>
          </p:cNvPr>
          <p:cNvSpPr/>
          <p:nvPr userDrawn="1"/>
        </p:nvSpPr>
        <p:spPr bwMode="gray">
          <a:xfrm>
            <a:off x="213518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6" name="Rechteck 6">
            <a:extLst>
              <a:ext uri="{FF2B5EF4-FFF2-40B4-BE49-F238E27FC236}">
                <a16:creationId xmlns:a16="http://schemas.microsoft.com/office/drawing/2014/main" id="{2A9198EB-D088-4210-957F-FDB9E3C0B331}"/>
              </a:ext>
            </a:extLst>
          </p:cNvPr>
          <p:cNvSpPr/>
          <p:nvPr userDrawn="1"/>
        </p:nvSpPr>
        <p:spPr bwMode="gray">
          <a:xfrm>
            <a:off x="350361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7" name="Rechteck 7">
            <a:extLst>
              <a:ext uri="{FF2B5EF4-FFF2-40B4-BE49-F238E27FC236}">
                <a16:creationId xmlns:a16="http://schemas.microsoft.com/office/drawing/2014/main" id="{CE5D4B02-5495-2CDB-1ACF-9A17B1B6CB4F}"/>
              </a:ext>
            </a:extLst>
          </p:cNvPr>
          <p:cNvSpPr/>
          <p:nvPr userDrawn="1"/>
        </p:nvSpPr>
        <p:spPr bwMode="gray">
          <a:xfrm>
            <a:off x="487203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0E78D37-79DD-EB20-6C49-9BDDB68C329B}"/>
              </a:ext>
            </a:extLst>
          </p:cNvPr>
          <p:cNvSpPr/>
          <p:nvPr userDrawn="1"/>
        </p:nvSpPr>
        <p:spPr bwMode="gray">
          <a:xfrm>
            <a:off x="624046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3B83073-9789-D2E8-B813-AE3E9171E16C}"/>
              </a:ext>
            </a:extLst>
          </p:cNvPr>
          <p:cNvSpPr/>
          <p:nvPr userDrawn="1"/>
        </p:nvSpPr>
        <p:spPr bwMode="gray">
          <a:xfrm>
            <a:off x="760730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2" name="Rechteck 10">
            <a:extLst>
              <a:ext uri="{FF2B5EF4-FFF2-40B4-BE49-F238E27FC236}">
                <a16:creationId xmlns:a16="http://schemas.microsoft.com/office/drawing/2014/main" id="{AB1FBD2C-505F-0756-83D3-7A638CD5AF1E}"/>
              </a:ext>
            </a:extLst>
          </p:cNvPr>
          <p:cNvSpPr/>
          <p:nvPr userDrawn="1"/>
        </p:nvSpPr>
        <p:spPr bwMode="gray">
          <a:xfrm>
            <a:off x="8975725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3" name="Rechteck 11">
            <a:extLst>
              <a:ext uri="{FF2B5EF4-FFF2-40B4-BE49-F238E27FC236}">
                <a16:creationId xmlns:a16="http://schemas.microsoft.com/office/drawing/2014/main" id="{6CAF39B1-BCAB-FA6C-C7C9-1A1DBFFF230D}"/>
              </a:ext>
            </a:extLst>
          </p:cNvPr>
          <p:cNvSpPr/>
          <p:nvPr userDrawn="1"/>
        </p:nvSpPr>
        <p:spPr bwMode="gray">
          <a:xfrm>
            <a:off x="1034415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1" name="Textplatzhalter 10"/>
          <p:cNvSpPr>
            <a:spLocks noGrp="1" noChangeAspect="1"/>
          </p:cNvSpPr>
          <p:nvPr>
            <p:ph type="body" sz="quarter" idx="11"/>
          </p:nvPr>
        </p:nvSpPr>
        <p:spPr bwMode="gray">
          <a:xfrm>
            <a:off x="8760592" y="764704"/>
            <a:ext cx="2664000" cy="786282"/>
          </a:xfrm>
          <a:blipFill>
            <a:blip r:embed="rId2"/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478427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">
            <a:extLst>
              <a:ext uri="{FF2B5EF4-FFF2-40B4-BE49-F238E27FC236}">
                <a16:creationId xmlns:a16="http://schemas.microsoft.com/office/drawing/2014/main" id="{01C712DC-6C52-F021-56E4-0D21EF458221}"/>
              </a:ext>
            </a:extLst>
          </p:cNvPr>
          <p:cNvSpPr/>
          <p:nvPr userDrawn="1"/>
        </p:nvSpPr>
        <p:spPr bwMode="gray">
          <a:xfrm>
            <a:off x="766763" y="-171450"/>
            <a:ext cx="1081087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5" name="Rechteck 3">
            <a:extLst>
              <a:ext uri="{FF2B5EF4-FFF2-40B4-BE49-F238E27FC236}">
                <a16:creationId xmlns:a16="http://schemas.microsoft.com/office/drawing/2014/main" id="{68500C7F-F83A-2005-1DAC-049341EB46EC}"/>
              </a:ext>
            </a:extLst>
          </p:cNvPr>
          <p:cNvSpPr/>
          <p:nvPr userDrawn="1"/>
        </p:nvSpPr>
        <p:spPr bwMode="gray">
          <a:xfrm>
            <a:off x="213518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6" name="Rechteck 6">
            <a:extLst>
              <a:ext uri="{FF2B5EF4-FFF2-40B4-BE49-F238E27FC236}">
                <a16:creationId xmlns:a16="http://schemas.microsoft.com/office/drawing/2014/main" id="{EA763C50-CECA-1119-52FA-935024EDF046}"/>
              </a:ext>
            </a:extLst>
          </p:cNvPr>
          <p:cNvSpPr/>
          <p:nvPr userDrawn="1"/>
        </p:nvSpPr>
        <p:spPr bwMode="gray">
          <a:xfrm>
            <a:off x="350361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7" name="Rechteck 7">
            <a:extLst>
              <a:ext uri="{FF2B5EF4-FFF2-40B4-BE49-F238E27FC236}">
                <a16:creationId xmlns:a16="http://schemas.microsoft.com/office/drawing/2014/main" id="{1F7BFF9D-7803-F32D-F202-238C58822330}"/>
              </a:ext>
            </a:extLst>
          </p:cNvPr>
          <p:cNvSpPr/>
          <p:nvPr userDrawn="1"/>
        </p:nvSpPr>
        <p:spPr bwMode="gray">
          <a:xfrm>
            <a:off x="487203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7F8FD19-65EB-DBF1-5AEC-3D504C19E0E9}"/>
              </a:ext>
            </a:extLst>
          </p:cNvPr>
          <p:cNvSpPr/>
          <p:nvPr userDrawn="1"/>
        </p:nvSpPr>
        <p:spPr bwMode="gray">
          <a:xfrm>
            <a:off x="624046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F9BE638-6B31-5D78-3270-058F07B9C833}"/>
              </a:ext>
            </a:extLst>
          </p:cNvPr>
          <p:cNvSpPr/>
          <p:nvPr userDrawn="1"/>
        </p:nvSpPr>
        <p:spPr bwMode="gray">
          <a:xfrm>
            <a:off x="760730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2" name="Rechteck 10">
            <a:extLst>
              <a:ext uri="{FF2B5EF4-FFF2-40B4-BE49-F238E27FC236}">
                <a16:creationId xmlns:a16="http://schemas.microsoft.com/office/drawing/2014/main" id="{0D7EA086-F4CA-29F1-9C3D-0316EE732E31}"/>
              </a:ext>
            </a:extLst>
          </p:cNvPr>
          <p:cNvSpPr/>
          <p:nvPr userDrawn="1"/>
        </p:nvSpPr>
        <p:spPr bwMode="gray">
          <a:xfrm>
            <a:off x="8975725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3" name="Rechteck 11">
            <a:extLst>
              <a:ext uri="{FF2B5EF4-FFF2-40B4-BE49-F238E27FC236}">
                <a16:creationId xmlns:a16="http://schemas.microsoft.com/office/drawing/2014/main" id="{9AC4E4D3-D79E-32C6-A890-AFF9675B8F2F}"/>
              </a:ext>
            </a:extLst>
          </p:cNvPr>
          <p:cNvSpPr/>
          <p:nvPr userDrawn="1"/>
        </p:nvSpPr>
        <p:spPr bwMode="gray">
          <a:xfrm>
            <a:off x="1034415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1" name="Textplatzhalter 10"/>
          <p:cNvSpPr>
            <a:spLocks noGrp="1" noChangeAspect="1"/>
          </p:cNvSpPr>
          <p:nvPr>
            <p:ph type="body" sz="quarter" idx="11"/>
          </p:nvPr>
        </p:nvSpPr>
        <p:spPr bwMode="gray">
          <a:xfrm>
            <a:off x="8760592" y="764704"/>
            <a:ext cx="2664000" cy="786282"/>
          </a:xfrm>
          <a:blipFill>
            <a:blip r:embed="rId2"/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563057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">
            <a:extLst>
              <a:ext uri="{FF2B5EF4-FFF2-40B4-BE49-F238E27FC236}">
                <a16:creationId xmlns:a16="http://schemas.microsoft.com/office/drawing/2014/main" id="{489BCCDC-8CCE-6F4A-9048-4F99A41B38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8759825" y="765175"/>
            <a:ext cx="2665413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hteck 3">
            <a:extLst>
              <a:ext uri="{FF2B5EF4-FFF2-40B4-BE49-F238E27FC236}">
                <a16:creationId xmlns:a16="http://schemas.microsoft.com/office/drawing/2014/main" id="{A35F348B-C9EA-4926-86C5-7830E0A216B0}"/>
              </a:ext>
            </a:extLst>
          </p:cNvPr>
          <p:cNvSpPr/>
          <p:nvPr userDrawn="1"/>
        </p:nvSpPr>
        <p:spPr bwMode="gray">
          <a:xfrm>
            <a:off x="766763" y="-171450"/>
            <a:ext cx="1081087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6" name="Rechteck 6">
            <a:extLst>
              <a:ext uri="{FF2B5EF4-FFF2-40B4-BE49-F238E27FC236}">
                <a16:creationId xmlns:a16="http://schemas.microsoft.com/office/drawing/2014/main" id="{D9F37E0D-BFFF-0FBB-2227-5BC71714CA90}"/>
              </a:ext>
            </a:extLst>
          </p:cNvPr>
          <p:cNvSpPr/>
          <p:nvPr userDrawn="1"/>
        </p:nvSpPr>
        <p:spPr bwMode="gray">
          <a:xfrm>
            <a:off x="213518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7" name="Rechteck 7">
            <a:extLst>
              <a:ext uri="{FF2B5EF4-FFF2-40B4-BE49-F238E27FC236}">
                <a16:creationId xmlns:a16="http://schemas.microsoft.com/office/drawing/2014/main" id="{413070CE-D9B6-FED4-7022-0983B9FEC721}"/>
              </a:ext>
            </a:extLst>
          </p:cNvPr>
          <p:cNvSpPr/>
          <p:nvPr userDrawn="1"/>
        </p:nvSpPr>
        <p:spPr bwMode="gray">
          <a:xfrm>
            <a:off x="350361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8" name="Rechteck 8">
            <a:extLst>
              <a:ext uri="{FF2B5EF4-FFF2-40B4-BE49-F238E27FC236}">
                <a16:creationId xmlns:a16="http://schemas.microsoft.com/office/drawing/2014/main" id="{F8DF0BD5-92B2-F5FD-A58B-B4E61900B0C5}"/>
              </a:ext>
            </a:extLst>
          </p:cNvPr>
          <p:cNvSpPr/>
          <p:nvPr userDrawn="1"/>
        </p:nvSpPr>
        <p:spPr bwMode="gray">
          <a:xfrm>
            <a:off x="487203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9" name="Rechteck 9">
            <a:extLst>
              <a:ext uri="{FF2B5EF4-FFF2-40B4-BE49-F238E27FC236}">
                <a16:creationId xmlns:a16="http://schemas.microsoft.com/office/drawing/2014/main" id="{232727FA-92B5-6203-4A5A-28D39175D627}"/>
              </a:ext>
            </a:extLst>
          </p:cNvPr>
          <p:cNvSpPr/>
          <p:nvPr userDrawn="1"/>
        </p:nvSpPr>
        <p:spPr bwMode="gray">
          <a:xfrm>
            <a:off x="624046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" name="Rechteck 10">
            <a:extLst>
              <a:ext uri="{FF2B5EF4-FFF2-40B4-BE49-F238E27FC236}">
                <a16:creationId xmlns:a16="http://schemas.microsoft.com/office/drawing/2014/main" id="{8E6D46E6-18E3-7724-8FD9-53783D942D06}"/>
              </a:ext>
            </a:extLst>
          </p:cNvPr>
          <p:cNvSpPr/>
          <p:nvPr userDrawn="1"/>
        </p:nvSpPr>
        <p:spPr bwMode="gray">
          <a:xfrm>
            <a:off x="760730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Rechteck 11">
            <a:extLst>
              <a:ext uri="{FF2B5EF4-FFF2-40B4-BE49-F238E27FC236}">
                <a16:creationId xmlns:a16="http://schemas.microsoft.com/office/drawing/2014/main" id="{31AABEF9-116B-4EC9-D72F-E485604F69DF}"/>
              </a:ext>
            </a:extLst>
          </p:cNvPr>
          <p:cNvSpPr/>
          <p:nvPr userDrawn="1"/>
        </p:nvSpPr>
        <p:spPr bwMode="gray">
          <a:xfrm>
            <a:off x="8975725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2" name="Rechteck 12">
            <a:extLst>
              <a:ext uri="{FF2B5EF4-FFF2-40B4-BE49-F238E27FC236}">
                <a16:creationId xmlns:a16="http://schemas.microsoft.com/office/drawing/2014/main" id="{EA919351-7F17-E5D4-45E9-C779B2D0A691}"/>
              </a:ext>
            </a:extLst>
          </p:cNvPr>
          <p:cNvSpPr/>
          <p:nvPr userDrawn="1"/>
        </p:nvSpPr>
        <p:spPr bwMode="gray">
          <a:xfrm>
            <a:off x="1034415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039026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334B789-0F06-92DA-77FA-CD546FA141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8759825" y="765175"/>
            <a:ext cx="2665413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hteck 3">
            <a:extLst>
              <a:ext uri="{FF2B5EF4-FFF2-40B4-BE49-F238E27FC236}">
                <a16:creationId xmlns:a16="http://schemas.microsoft.com/office/drawing/2014/main" id="{1878FFA6-6ABF-345A-36B1-7F6B52FE3A21}"/>
              </a:ext>
            </a:extLst>
          </p:cNvPr>
          <p:cNvSpPr/>
          <p:nvPr userDrawn="1"/>
        </p:nvSpPr>
        <p:spPr bwMode="gray">
          <a:xfrm>
            <a:off x="766763" y="-171450"/>
            <a:ext cx="1081087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6D060BB7-C239-792D-3BF7-16E0BA31F2D2}"/>
              </a:ext>
            </a:extLst>
          </p:cNvPr>
          <p:cNvSpPr/>
          <p:nvPr userDrawn="1"/>
        </p:nvSpPr>
        <p:spPr bwMode="gray">
          <a:xfrm>
            <a:off x="213518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6" name="Rechteck 7">
            <a:extLst>
              <a:ext uri="{FF2B5EF4-FFF2-40B4-BE49-F238E27FC236}">
                <a16:creationId xmlns:a16="http://schemas.microsoft.com/office/drawing/2014/main" id="{19DF260E-3779-3F80-C6AE-D4CE06322586}"/>
              </a:ext>
            </a:extLst>
          </p:cNvPr>
          <p:cNvSpPr/>
          <p:nvPr userDrawn="1"/>
        </p:nvSpPr>
        <p:spPr bwMode="gray">
          <a:xfrm>
            <a:off x="350361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7" name="Rechteck 8">
            <a:extLst>
              <a:ext uri="{FF2B5EF4-FFF2-40B4-BE49-F238E27FC236}">
                <a16:creationId xmlns:a16="http://schemas.microsoft.com/office/drawing/2014/main" id="{07C7C417-09B2-6519-6F8B-9800BC06C547}"/>
              </a:ext>
            </a:extLst>
          </p:cNvPr>
          <p:cNvSpPr/>
          <p:nvPr userDrawn="1"/>
        </p:nvSpPr>
        <p:spPr bwMode="gray">
          <a:xfrm>
            <a:off x="487203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8" name="Rechteck 9">
            <a:extLst>
              <a:ext uri="{FF2B5EF4-FFF2-40B4-BE49-F238E27FC236}">
                <a16:creationId xmlns:a16="http://schemas.microsoft.com/office/drawing/2014/main" id="{BADCDF2F-DBEC-8BE8-2292-275909F7017A}"/>
              </a:ext>
            </a:extLst>
          </p:cNvPr>
          <p:cNvSpPr/>
          <p:nvPr userDrawn="1"/>
        </p:nvSpPr>
        <p:spPr bwMode="gray">
          <a:xfrm>
            <a:off x="624046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462502AE-1B78-9F71-91A3-4DFA6C6E7754}"/>
              </a:ext>
            </a:extLst>
          </p:cNvPr>
          <p:cNvSpPr/>
          <p:nvPr userDrawn="1"/>
        </p:nvSpPr>
        <p:spPr bwMode="gray">
          <a:xfrm>
            <a:off x="760730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0" name="Rechteck 11">
            <a:extLst>
              <a:ext uri="{FF2B5EF4-FFF2-40B4-BE49-F238E27FC236}">
                <a16:creationId xmlns:a16="http://schemas.microsoft.com/office/drawing/2014/main" id="{65098000-21D0-AA44-1402-E5D316FC53C8}"/>
              </a:ext>
            </a:extLst>
          </p:cNvPr>
          <p:cNvSpPr/>
          <p:nvPr userDrawn="1"/>
        </p:nvSpPr>
        <p:spPr bwMode="gray">
          <a:xfrm>
            <a:off x="8975725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1" name="Rechteck 12">
            <a:extLst>
              <a:ext uri="{FF2B5EF4-FFF2-40B4-BE49-F238E27FC236}">
                <a16:creationId xmlns:a16="http://schemas.microsoft.com/office/drawing/2014/main" id="{739B5BD1-7381-4B0A-08E2-2B806A5AC566}"/>
              </a:ext>
            </a:extLst>
          </p:cNvPr>
          <p:cNvSpPr/>
          <p:nvPr userDrawn="1"/>
        </p:nvSpPr>
        <p:spPr bwMode="gray">
          <a:xfrm>
            <a:off x="1034415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8" name="Titel 1"/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2254690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: Form 1">
            <a:extLst>
              <a:ext uri="{FF2B5EF4-FFF2-40B4-BE49-F238E27FC236}">
                <a16:creationId xmlns:a16="http://schemas.microsoft.com/office/drawing/2014/main" id="{756815EC-7782-138E-CF33-932E6107F38F}"/>
              </a:ext>
            </a:extLst>
          </p:cNvPr>
          <p:cNvSpPr/>
          <p:nvPr userDrawn="1"/>
        </p:nvSpPr>
        <p:spPr bwMode="gray">
          <a:xfrm>
            <a:off x="8328025" y="0"/>
            <a:ext cx="3863975" cy="5445125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3503712" y="4005064"/>
            <a:ext cx="4896544" cy="792000"/>
          </a:xfrm>
        </p:spPr>
        <p:txBody>
          <a:bodyPr/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2"/>
          <p:cNvSpPr>
            <a:spLocks noGrp="1"/>
          </p:cNvSpPr>
          <p:nvPr>
            <p:ph type="body" idx="18"/>
          </p:nvPr>
        </p:nvSpPr>
        <p:spPr bwMode="gray">
          <a:xfrm>
            <a:off x="3503471" y="4941168"/>
            <a:ext cx="4896785" cy="935162"/>
          </a:xfrm>
        </p:spPr>
        <p:txBody>
          <a:bodyPr/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324217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: Form 1">
            <a:extLst>
              <a:ext uri="{FF2B5EF4-FFF2-40B4-BE49-F238E27FC236}">
                <a16:creationId xmlns:a16="http://schemas.microsoft.com/office/drawing/2014/main" id="{9D03F755-BD2F-A295-29DC-479221F4C1C2}"/>
              </a:ext>
            </a:extLst>
          </p:cNvPr>
          <p:cNvSpPr/>
          <p:nvPr userDrawn="1"/>
        </p:nvSpPr>
        <p:spPr bwMode="gray">
          <a:xfrm>
            <a:off x="6096000" y="0"/>
            <a:ext cx="6096000" cy="6092825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/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5" name="Textplatzhalter 2"/>
          <p:cNvSpPr>
            <a:spLocks noGrp="1"/>
          </p:cNvSpPr>
          <p:nvPr>
            <p:ph type="body" idx="18"/>
          </p:nvPr>
        </p:nvSpPr>
        <p:spPr bwMode="gray">
          <a:xfrm>
            <a:off x="766588" y="4653248"/>
            <a:ext cx="4895999" cy="1008000"/>
          </a:xfrm>
        </p:spPr>
        <p:txBody>
          <a:bodyPr/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42686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2F8B1F49-4460-2FD0-DF31-57254E37812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6210EBC3-F3D2-F473-1165-2F4B34295F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4A53E-C219-405F-866F-39E7863CE79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32801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766763" y="1556792"/>
            <a:ext cx="10658475" cy="45360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13D65318-AE49-CCA6-29B2-C0A3163290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8FAD14F6-8B16-F260-59F8-CDD92C2F80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D4B09-63B4-4CB5-AF3F-F29EBE49C5D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77331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8" name="Inhaltsplatzhalter 2"/>
          <p:cNvSpPr>
            <a:spLocks noGrp="1"/>
          </p:cNvSpPr>
          <p:nvPr>
            <p:ph idx="14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9F615252-6D3C-DE0C-8523-4F3874792AE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85AA371E-900C-BFCA-029B-1E6A1B7AC3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7A5F7-B843-4033-8FA9-FA4F783BD4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87176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4DFA01B-F6C7-A41A-2C46-64ECF1D2D74F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 err="1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4E118DE-3415-B8C7-3733-182FF8B801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9840913" y="788988"/>
            <a:ext cx="15843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1AED33-ACF1-0871-D004-8A0D1E98C19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334DD1-4263-906B-3EBA-45946BA7AF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C11148-A6E0-441E-9E55-A5D0D6C02D7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37549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9" name="Textplatzhalter 10"/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9840592" y="788974"/>
            <a:ext cx="1584000" cy="467519"/>
          </a:xfrm>
          <a:blipFill>
            <a:blip r:embed="rId2"/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A9AF8F62-6EB1-3793-ED01-E63002AE8C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31B890CC-B0A9-2502-A3F1-58FC66B906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22ABEC7-693E-43A1-A937-5977B6E9A6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07334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3F90EF8-0363-1335-73C1-011652EDA311}"/>
              </a:ext>
            </a:extLst>
          </p:cNvPr>
          <p:cNvSpPr/>
          <p:nvPr userDrawn="1"/>
        </p:nvSpPr>
        <p:spPr bwMode="gray">
          <a:xfrm>
            <a:off x="766763" y="-171450"/>
            <a:ext cx="1081087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" name="Rechteck 3">
            <a:extLst>
              <a:ext uri="{FF2B5EF4-FFF2-40B4-BE49-F238E27FC236}">
                <a16:creationId xmlns:a16="http://schemas.microsoft.com/office/drawing/2014/main" id="{F9C67C2E-94F6-66AC-1BF0-F2E4AC383D38}"/>
              </a:ext>
            </a:extLst>
          </p:cNvPr>
          <p:cNvSpPr/>
          <p:nvPr userDrawn="1"/>
        </p:nvSpPr>
        <p:spPr bwMode="gray">
          <a:xfrm>
            <a:off x="213518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A2A72F42-D14D-A432-D087-09138248ECBC}"/>
              </a:ext>
            </a:extLst>
          </p:cNvPr>
          <p:cNvSpPr/>
          <p:nvPr userDrawn="1"/>
        </p:nvSpPr>
        <p:spPr bwMode="gray">
          <a:xfrm>
            <a:off x="350361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5" name="Rechteck 7">
            <a:extLst>
              <a:ext uri="{FF2B5EF4-FFF2-40B4-BE49-F238E27FC236}">
                <a16:creationId xmlns:a16="http://schemas.microsoft.com/office/drawing/2014/main" id="{BB06ECD0-9679-81AE-C4D3-8EDAF136026B}"/>
              </a:ext>
            </a:extLst>
          </p:cNvPr>
          <p:cNvSpPr/>
          <p:nvPr userDrawn="1"/>
        </p:nvSpPr>
        <p:spPr bwMode="gray">
          <a:xfrm>
            <a:off x="487203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6" name="Rechteck 8">
            <a:extLst>
              <a:ext uri="{FF2B5EF4-FFF2-40B4-BE49-F238E27FC236}">
                <a16:creationId xmlns:a16="http://schemas.microsoft.com/office/drawing/2014/main" id="{A3ECDFD4-4AB9-4D75-46E6-C433CCCF3F49}"/>
              </a:ext>
            </a:extLst>
          </p:cNvPr>
          <p:cNvSpPr/>
          <p:nvPr userDrawn="1"/>
        </p:nvSpPr>
        <p:spPr bwMode="gray">
          <a:xfrm>
            <a:off x="624046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7" name="Rechteck 9">
            <a:extLst>
              <a:ext uri="{FF2B5EF4-FFF2-40B4-BE49-F238E27FC236}">
                <a16:creationId xmlns:a16="http://schemas.microsoft.com/office/drawing/2014/main" id="{E88767E5-33C8-1D94-4FDA-B79A3F563E43}"/>
              </a:ext>
            </a:extLst>
          </p:cNvPr>
          <p:cNvSpPr/>
          <p:nvPr userDrawn="1"/>
        </p:nvSpPr>
        <p:spPr bwMode="gray">
          <a:xfrm>
            <a:off x="760730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212362DF-AA7A-982C-B433-1F9ADD1FA2EC}"/>
              </a:ext>
            </a:extLst>
          </p:cNvPr>
          <p:cNvSpPr/>
          <p:nvPr userDrawn="1"/>
        </p:nvSpPr>
        <p:spPr bwMode="gray">
          <a:xfrm>
            <a:off x="8975725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0" name="Rechteck 11">
            <a:extLst>
              <a:ext uri="{FF2B5EF4-FFF2-40B4-BE49-F238E27FC236}">
                <a16:creationId xmlns:a16="http://schemas.microsoft.com/office/drawing/2014/main" id="{140B087B-8095-845D-D068-AC2764A1559C}"/>
              </a:ext>
            </a:extLst>
          </p:cNvPr>
          <p:cNvSpPr/>
          <p:nvPr userDrawn="1"/>
        </p:nvSpPr>
        <p:spPr bwMode="gray">
          <a:xfrm>
            <a:off x="1034415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9504484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">
            <a:extLst>
              <a:ext uri="{FF2B5EF4-FFF2-40B4-BE49-F238E27FC236}">
                <a16:creationId xmlns:a16="http://schemas.microsoft.com/office/drawing/2014/main" id="{50DE2C84-9D1C-36EF-C75F-D239952FFCD0}"/>
              </a:ext>
            </a:extLst>
          </p:cNvPr>
          <p:cNvSpPr/>
          <p:nvPr userDrawn="1"/>
        </p:nvSpPr>
        <p:spPr bwMode="gray">
          <a:xfrm>
            <a:off x="766763" y="-171450"/>
            <a:ext cx="1081087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0D05166-B243-AC90-EA73-655FF52F0A1D}"/>
              </a:ext>
            </a:extLst>
          </p:cNvPr>
          <p:cNvSpPr/>
          <p:nvPr userDrawn="1"/>
        </p:nvSpPr>
        <p:spPr bwMode="gray">
          <a:xfrm>
            <a:off x="213518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5" name="Rechteck 6">
            <a:extLst>
              <a:ext uri="{FF2B5EF4-FFF2-40B4-BE49-F238E27FC236}">
                <a16:creationId xmlns:a16="http://schemas.microsoft.com/office/drawing/2014/main" id="{DBE2ACEC-498A-44A7-56CC-5986DAB41B9E}"/>
              </a:ext>
            </a:extLst>
          </p:cNvPr>
          <p:cNvSpPr/>
          <p:nvPr userDrawn="1"/>
        </p:nvSpPr>
        <p:spPr bwMode="gray">
          <a:xfrm>
            <a:off x="350361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6" name="Rechteck 7">
            <a:extLst>
              <a:ext uri="{FF2B5EF4-FFF2-40B4-BE49-F238E27FC236}">
                <a16:creationId xmlns:a16="http://schemas.microsoft.com/office/drawing/2014/main" id="{8DE422D6-A4F5-C9D7-0319-0C040566B9BE}"/>
              </a:ext>
            </a:extLst>
          </p:cNvPr>
          <p:cNvSpPr/>
          <p:nvPr userDrawn="1"/>
        </p:nvSpPr>
        <p:spPr bwMode="gray">
          <a:xfrm>
            <a:off x="487203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7" name="Rechteck 8">
            <a:extLst>
              <a:ext uri="{FF2B5EF4-FFF2-40B4-BE49-F238E27FC236}">
                <a16:creationId xmlns:a16="http://schemas.microsoft.com/office/drawing/2014/main" id="{7FC06C6C-7C8E-AD0A-F96C-E0AEC901AE59}"/>
              </a:ext>
            </a:extLst>
          </p:cNvPr>
          <p:cNvSpPr/>
          <p:nvPr userDrawn="1"/>
        </p:nvSpPr>
        <p:spPr bwMode="gray">
          <a:xfrm>
            <a:off x="624046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9" name="Rechteck 9">
            <a:extLst>
              <a:ext uri="{FF2B5EF4-FFF2-40B4-BE49-F238E27FC236}">
                <a16:creationId xmlns:a16="http://schemas.microsoft.com/office/drawing/2014/main" id="{984AEF81-8865-0CD0-7261-CE61182A9D41}"/>
              </a:ext>
            </a:extLst>
          </p:cNvPr>
          <p:cNvSpPr/>
          <p:nvPr userDrawn="1"/>
        </p:nvSpPr>
        <p:spPr bwMode="gray">
          <a:xfrm>
            <a:off x="760730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0" name="Rechteck 10">
            <a:extLst>
              <a:ext uri="{FF2B5EF4-FFF2-40B4-BE49-F238E27FC236}">
                <a16:creationId xmlns:a16="http://schemas.microsoft.com/office/drawing/2014/main" id="{D35F1FBA-C2E4-A791-1171-A53F30645F64}"/>
              </a:ext>
            </a:extLst>
          </p:cNvPr>
          <p:cNvSpPr/>
          <p:nvPr userDrawn="1"/>
        </p:nvSpPr>
        <p:spPr bwMode="gray">
          <a:xfrm>
            <a:off x="8975725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1" name="Rechteck 11">
            <a:extLst>
              <a:ext uri="{FF2B5EF4-FFF2-40B4-BE49-F238E27FC236}">
                <a16:creationId xmlns:a16="http://schemas.microsoft.com/office/drawing/2014/main" id="{0E04E12A-9FEC-4067-032C-BC718DA2D2C7}"/>
              </a:ext>
            </a:extLst>
          </p:cNvPr>
          <p:cNvSpPr/>
          <p:nvPr userDrawn="1"/>
        </p:nvSpPr>
        <p:spPr bwMode="gray">
          <a:xfrm>
            <a:off x="1034415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idx="18"/>
          </p:nvPr>
        </p:nvSpPr>
        <p:spPr bwMode="gray">
          <a:xfrm>
            <a:off x="767408" y="5229296"/>
            <a:ext cx="5040000" cy="864000"/>
          </a:xfrm>
        </p:spPr>
        <p:txBody>
          <a:bodyPr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00508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EBEC1DBE-4FD9-E326-9441-CD43A134ED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AD7A5867-1EA8-BBD7-2AA0-1D74F333AF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01252-72A3-462A-9122-5A80283EDD5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65606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/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410BC702-7F0D-B24C-EEA7-B3128E7C95F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E470B1B0-F4E3-75BA-B926-B320ECB16DC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2C67C-300D-418A-ABB1-3BFE22EAD3F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56999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097951EF-E20A-59A5-5607-FAE45647B0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7B19EF74-C8A6-3D5E-2481-52A855B5F9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4ED0C-7D75-47E6-B11B-C79830A91A6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845780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1127832" y="3645495"/>
            <a:ext cx="2880704" cy="431577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0" name="Textplatzhalter 2"/>
          <p:cNvSpPr>
            <a:spLocks noGrp="1"/>
          </p:cNvSpPr>
          <p:nvPr>
            <p:ph type="body" idx="15"/>
          </p:nvPr>
        </p:nvSpPr>
        <p:spPr bwMode="gray">
          <a:xfrm>
            <a:off x="1127448" y="4149551"/>
            <a:ext cx="2880704" cy="1943274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idx="17"/>
          </p:nvPr>
        </p:nvSpPr>
        <p:spPr bwMode="gray">
          <a:xfrm>
            <a:off x="4511824" y="3645495"/>
            <a:ext cx="2880704" cy="431577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idx="18"/>
          </p:nvPr>
        </p:nvSpPr>
        <p:spPr bwMode="gray">
          <a:xfrm>
            <a:off x="4511440" y="4149551"/>
            <a:ext cx="2880704" cy="1943274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20"/>
          </p:nvPr>
        </p:nvSpPr>
        <p:spPr bwMode="gray">
          <a:xfrm>
            <a:off x="7895816" y="3645495"/>
            <a:ext cx="2880704" cy="431577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6" name="Textplatzhalter 2"/>
          <p:cNvSpPr>
            <a:spLocks noGrp="1"/>
          </p:cNvSpPr>
          <p:nvPr>
            <p:ph type="body" idx="21"/>
          </p:nvPr>
        </p:nvSpPr>
        <p:spPr bwMode="gray">
          <a:xfrm>
            <a:off x="7895432" y="4149551"/>
            <a:ext cx="2880704" cy="1943274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0FDEACB0-3693-18A6-2CA5-9A20858733E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4617CFAB-F60D-4A39-589F-4F8800A9B3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C8977-496A-44A4-A539-85F3FBA7357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0303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3E75FD8-C5BD-7028-6EAC-56C6C83B542E}"/>
              </a:ext>
            </a:extLst>
          </p:cNvPr>
          <p:cNvSpPr/>
          <p:nvPr userDrawn="1"/>
        </p:nvSpPr>
        <p:spPr bwMode="gray">
          <a:xfrm>
            <a:off x="5394325" y="2224088"/>
            <a:ext cx="1296988" cy="12954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 err="1"/>
          </a:p>
        </p:txBody>
      </p:sp>
      <p:sp>
        <p:nvSpPr>
          <p:cNvPr id="3" name="Rechteck 3">
            <a:extLst>
              <a:ext uri="{FF2B5EF4-FFF2-40B4-BE49-F238E27FC236}">
                <a16:creationId xmlns:a16="http://schemas.microsoft.com/office/drawing/2014/main" id="{165A03B1-FAAB-6261-CC5D-8FD44A168432}"/>
              </a:ext>
            </a:extLst>
          </p:cNvPr>
          <p:cNvSpPr/>
          <p:nvPr userDrawn="1"/>
        </p:nvSpPr>
        <p:spPr bwMode="gray">
          <a:xfrm>
            <a:off x="8778875" y="2224088"/>
            <a:ext cx="1295400" cy="12954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 err="1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B37658E4-E15F-11D2-4EA1-31601AE5748B}"/>
              </a:ext>
            </a:extLst>
          </p:cNvPr>
          <p:cNvSpPr/>
          <p:nvPr userDrawn="1"/>
        </p:nvSpPr>
        <p:spPr bwMode="gray">
          <a:xfrm>
            <a:off x="2011363" y="2224088"/>
            <a:ext cx="1295400" cy="12954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 err="1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1127832" y="3645495"/>
            <a:ext cx="2880704" cy="431577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0" name="Textplatzhalter 2"/>
          <p:cNvSpPr>
            <a:spLocks noGrp="1"/>
          </p:cNvSpPr>
          <p:nvPr>
            <p:ph type="body" idx="15"/>
          </p:nvPr>
        </p:nvSpPr>
        <p:spPr bwMode="gray">
          <a:xfrm>
            <a:off x="1127448" y="4149551"/>
            <a:ext cx="2880704" cy="1943274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idx="17"/>
          </p:nvPr>
        </p:nvSpPr>
        <p:spPr bwMode="gray">
          <a:xfrm>
            <a:off x="4511824" y="3645495"/>
            <a:ext cx="2880704" cy="431577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idx="18"/>
          </p:nvPr>
        </p:nvSpPr>
        <p:spPr bwMode="gray">
          <a:xfrm>
            <a:off x="4511440" y="4149551"/>
            <a:ext cx="2880704" cy="1943274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20"/>
          </p:nvPr>
        </p:nvSpPr>
        <p:spPr bwMode="gray">
          <a:xfrm>
            <a:off x="7895816" y="3645495"/>
            <a:ext cx="2880704" cy="431577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6" name="Textplatzhalter 2"/>
          <p:cNvSpPr>
            <a:spLocks noGrp="1"/>
          </p:cNvSpPr>
          <p:nvPr>
            <p:ph type="body" idx="21"/>
          </p:nvPr>
        </p:nvSpPr>
        <p:spPr bwMode="gray">
          <a:xfrm>
            <a:off x="7895432" y="4149551"/>
            <a:ext cx="2880704" cy="1943274"/>
          </a:xfrm>
        </p:spPr>
        <p:txBody>
          <a:bodyPr/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1FA3A323-704A-D10F-2DA2-3031A10FE2A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66763" y="6381750"/>
            <a:ext cx="6553200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Title of presentation</a:t>
            </a:r>
            <a:endParaRPr lang="en-GB" dirty="0"/>
          </a:p>
        </p:txBody>
      </p:sp>
      <p:sp>
        <p:nvSpPr>
          <p:cNvPr id="17" name="Foliennummernplatzhalter 4">
            <a:extLst>
              <a:ext uri="{FF2B5EF4-FFF2-40B4-BE49-F238E27FC236}">
                <a16:creationId xmlns:a16="http://schemas.microsoft.com/office/drawing/2014/main" id="{067ECC5C-2CEE-BE15-253C-64C6A54D696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0775950" y="6381750"/>
            <a:ext cx="649288" cy="215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877BC-D6C5-4DD1-BAF5-C2B6687149E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3486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030C4B25-D194-6751-AC90-44D867135798}"/>
              </a:ext>
            </a:extLst>
          </p:cNvPr>
          <p:cNvSpPr/>
          <p:nvPr userDrawn="1"/>
        </p:nvSpPr>
        <p:spPr bwMode="gray">
          <a:xfrm>
            <a:off x="192088" y="4076700"/>
            <a:ext cx="1800225" cy="1800225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235810" y="2204897"/>
            <a:ext cx="5189428" cy="288000"/>
          </a:xfrm>
        </p:spPr>
        <p:txBody>
          <a:bodyPr anchor="b" anchorCtr="0"/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5"/>
          </p:nvPr>
        </p:nvSpPr>
        <p:spPr bwMode="gray">
          <a:xfrm>
            <a:off x="6240376" y="2636912"/>
            <a:ext cx="5184862" cy="288000"/>
          </a:xfrm>
        </p:spPr>
        <p:txBody>
          <a:bodyPr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10" name="Textplatzhalter 2"/>
          <p:cNvSpPr>
            <a:spLocks noGrp="1"/>
          </p:cNvSpPr>
          <p:nvPr>
            <p:ph type="body" idx="16"/>
          </p:nvPr>
        </p:nvSpPr>
        <p:spPr bwMode="gray">
          <a:xfrm>
            <a:off x="6240392" y="3426036"/>
            <a:ext cx="5184846" cy="288000"/>
          </a:xfrm>
        </p:spPr>
        <p:txBody>
          <a:bodyPr anchor="b" anchorCtr="0"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7"/>
          </p:nvPr>
        </p:nvSpPr>
        <p:spPr bwMode="gray">
          <a:xfrm>
            <a:off x="6240392" y="4073922"/>
            <a:ext cx="5184846" cy="288000"/>
          </a:xfrm>
        </p:spPr>
        <p:txBody>
          <a:bodyPr anchor="b" anchorCtr="0"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idx="18"/>
          </p:nvPr>
        </p:nvSpPr>
        <p:spPr bwMode="gray">
          <a:xfrm>
            <a:off x="6240392" y="4728059"/>
            <a:ext cx="5184846" cy="288000"/>
          </a:xfrm>
        </p:spPr>
        <p:txBody>
          <a:bodyPr anchor="b" anchorCtr="0"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2"/>
          <p:cNvSpPr>
            <a:spLocks noGrp="1"/>
          </p:cNvSpPr>
          <p:nvPr>
            <p:ph type="body" idx="19"/>
          </p:nvPr>
        </p:nvSpPr>
        <p:spPr bwMode="gray">
          <a:xfrm>
            <a:off x="6240392" y="5297761"/>
            <a:ext cx="5184846" cy="288000"/>
          </a:xfrm>
        </p:spPr>
        <p:txBody>
          <a:bodyPr anchor="b" anchorCtr="0"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2"/>
          <p:cNvSpPr>
            <a:spLocks noGrp="1"/>
          </p:cNvSpPr>
          <p:nvPr>
            <p:ph type="body" idx="20"/>
          </p:nvPr>
        </p:nvSpPr>
        <p:spPr bwMode="gray">
          <a:xfrm>
            <a:off x="6240392" y="5805296"/>
            <a:ext cx="5184846" cy="288000"/>
          </a:xfrm>
        </p:spPr>
        <p:txBody>
          <a:bodyPr anchor="b" anchorCtr="0"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idx="21"/>
          </p:nvPr>
        </p:nvSpPr>
        <p:spPr bwMode="gray">
          <a:xfrm>
            <a:off x="5663952" y="3356992"/>
            <a:ext cx="4320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"/>
          <p:cNvSpPr>
            <a:spLocks noGrp="1"/>
          </p:cNvSpPr>
          <p:nvPr>
            <p:ph type="body" idx="23"/>
          </p:nvPr>
        </p:nvSpPr>
        <p:spPr bwMode="gray">
          <a:xfrm>
            <a:off x="5663952" y="4005579"/>
            <a:ext cx="432000" cy="4320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"/>
          <p:cNvSpPr>
            <a:spLocks noGrp="1"/>
          </p:cNvSpPr>
          <p:nvPr>
            <p:ph type="body" idx="24"/>
          </p:nvPr>
        </p:nvSpPr>
        <p:spPr bwMode="gray">
          <a:xfrm>
            <a:off x="5663952" y="4658435"/>
            <a:ext cx="432000" cy="432000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"/>
          <p:cNvSpPr>
            <a:spLocks noGrp="1"/>
          </p:cNvSpPr>
          <p:nvPr>
            <p:ph type="body" idx="25"/>
          </p:nvPr>
        </p:nvSpPr>
        <p:spPr bwMode="gray">
          <a:xfrm>
            <a:off x="5735904" y="5297761"/>
            <a:ext cx="288000" cy="288000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"/>
          <p:cNvSpPr>
            <a:spLocks noGrp="1"/>
          </p:cNvSpPr>
          <p:nvPr>
            <p:ph type="body" idx="26"/>
          </p:nvPr>
        </p:nvSpPr>
        <p:spPr bwMode="gray">
          <a:xfrm>
            <a:off x="5735904" y="5810992"/>
            <a:ext cx="288000" cy="288000"/>
          </a:xfrm>
          <a:blipFill>
            <a:blip r:embed="rId6"/>
            <a:stretch>
              <a:fillRect/>
            </a:stretch>
          </a:blipFill>
        </p:spPr>
        <p:txBody>
          <a:bodyPr/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0322146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5" y="4156295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3" y="5001105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</p:spTree>
    <p:extLst>
      <p:ext uri="{BB962C8B-B14F-4D97-AF65-F5344CB8AC3E}">
        <p14:creationId xmlns:p14="http://schemas.microsoft.com/office/powerpoint/2010/main" val="312558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7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3" y="5040179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649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5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</p:spTree>
    <p:extLst>
      <p:ext uri="{BB962C8B-B14F-4D97-AF65-F5344CB8AC3E}">
        <p14:creationId xmlns:p14="http://schemas.microsoft.com/office/powerpoint/2010/main" val="66741660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5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9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4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52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2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</p:spTree>
    <p:extLst>
      <p:ext uri="{BB962C8B-B14F-4D97-AF65-F5344CB8AC3E}">
        <p14:creationId xmlns:p14="http://schemas.microsoft.com/office/powerpoint/2010/main" val="260652288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9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748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6935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1556793"/>
            <a:ext cx="10658475" cy="4536033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3399081-B28F-4ABA-A951-E201993748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099518-9EB8-41FF-B9F6-30B2EC8991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2670833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600"/>
            <a:ext cx="5184775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6239818" y="2132856"/>
            <a:ext cx="5184775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974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600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9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46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600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5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125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2519863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" y="4234857"/>
            <a:ext cx="6203315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461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002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1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591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8DCEB5-9155-4443-B053-FBB3478A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797D52-6AEB-41D2-BC95-741F2F3D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7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orient="horz" pos="1344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6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2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6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2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6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2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946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8CD0FA8F-1345-4EF2-8691-A68DDE9755A8}"/>
              </a:ext>
            </a:extLst>
          </p:cNvPr>
          <p:cNvSpPr/>
          <p:nvPr userDrawn="1"/>
        </p:nvSpPr>
        <p:spPr bwMode="gray">
          <a:xfrm>
            <a:off x="5394586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459C78-BBBF-4479-85FB-364180723BB6}"/>
              </a:ext>
            </a:extLst>
          </p:cNvPr>
          <p:cNvSpPr/>
          <p:nvPr userDrawn="1"/>
        </p:nvSpPr>
        <p:spPr bwMode="gray">
          <a:xfrm>
            <a:off x="8778578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A718E8-9C93-457E-88A6-5B2F72A76218}"/>
              </a:ext>
            </a:extLst>
          </p:cNvPr>
          <p:cNvSpPr/>
          <p:nvPr userDrawn="1"/>
        </p:nvSpPr>
        <p:spPr bwMode="gray">
          <a:xfrm>
            <a:off x="2010594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6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2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6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2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6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2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940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6235810" y="2204897"/>
            <a:ext cx="5189428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6240376" y="2636912"/>
            <a:ext cx="518486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6240392" y="3426036"/>
            <a:ext cx="5184846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Website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6240392" y="4073922"/>
            <a:ext cx="5184846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6240392" y="4728059"/>
            <a:ext cx="5184846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6240392" y="5297761"/>
            <a:ext cx="5184846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6240392" y="5805296"/>
            <a:ext cx="5184846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5663952" y="3356992"/>
            <a:ext cx="432000" cy="4320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5663952" y="4005579"/>
            <a:ext cx="432000" cy="4320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5663952" y="4658435"/>
            <a:ext cx="432000" cy="432000"/>
          </a:xfr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5735904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5735904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4342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931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72BE1EF-4549-4392-A069-4A855D1DC3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47069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0" imgW="306" imgH="306" progId="TCLayout.ActiveDocument.1">
                  <p:embed/>
                </p:oleObj>
              </mc:Choice>
              <mc:Fallback>
                <p:oleObj name="think-cell Folie" r:id="rId10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72BE1EF-4549-4392-A069-4A855D1DC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" name="Graphic 162">
            <a:extLst>
              <a:ext uri="{FF2B5EF4-FFF2-40B4-BE49-F238E27FC236}">
                <a16:creationId xmlns:a16="http://schemas.microsoft.com/office/drawing/2014/main" id="{1BA2B2E2-D574-4136-AC8E-1A4AE34A4EF0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gray">
          <a:xfrm>
            <a:off x="623393" y="1160463"/>
            <a:ext cx="7662811" cy="4676116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6AB543-C436-4B00-AB8C-76379B84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fld id="{FB95B963-CBD6-47C4-B7CF-F60C897EE5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5C5441-54DD-4E25-992B-463A8B70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r>
              <a:rPr lang="de-DE" err="1"/>
              <a:t>TechTeam</a:t>
            </a:r>
            <a:r>
              <a:rPr lang="de-DE"/>
              <a:t> – IDSA Deck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A788415-4FB8-4D5E-ABE7-08B6C31D6AFA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 bwMode="gray">
          <a:xfrm>
            <a:off x="5799774" y="5782338"/>
            <a:ext cx="1869416" cy="80682"/>
            <a:chOff x="9918885" y="5769260"/>
            <a:chExt cx="1568735" cy="67705"/>
          </a:xfrm>
        </p:grpSpPr>
        <p:sp>
          <p:nvSpPr>
            <p:cNvPr id="90" name="Graphic 8">
              <a:extLst>
                <a:ext uri="{FF2B5EF4-FFF2-40B4-BE49-F238E27FC236}">
                  <a16:creationId xmlns:a16="http://schemas.microsoft.com/office/drawing/2014/main" id="{C51955D0-F746-4E0D-9D2E-46995CCE6489}"/>
                </a:ext>
              </a:extLst>
            </p:cNvPr>
            <p:cNvSpPr/>
            <p:nvPr/>
          </p:nvSpPr>
          <p:spPr bwMode="gray">
            <a:xfrm>
              <a:off x="10510440" y="5769260"/>
              <a:ext cx="385624" cy="67705"/>
            </a:xfrm>
            <a:custGeom>
              <a:avLst/>
              <a:gdLst>
                <a:gd name="connsiteX0" fmla="*/ 343134 w 385624"/>
                <a:gd name="connsiteY0" fmla="*/ 74260 h 74475"/>
                <a:gd name="connsiteX1" fmla="*/ 43380 w 385624"/>
                <a:gd name="connsiteY1" fmla="*/ 74260 h 74475"/>
                <a:gd name="connsiteX2" fmla="*/ 445 w 385624"/>
                <a:gd name="connsiteY2" fmla="*/ 31855 h 74475"/>
                <a:gd name="connsiteX3" fmla="*/ 445 w 385624"/>
                <a:gd name="connsiteY3" fmla="*/ 31590 h 74475"/>
                <a:gd name="connsiteX4" fmla="*/ 445 w 385624"/>
                <a:gd name="connsiteY4" fmla="*/ -214 h 74475"/>
                <a:gd name="connsiteX5" fmla="*/ 386069 w 385624"/>
                <a:gd name="connsiteY5" fmla="*/ -214 h 74475"/>
                <a:gd name="connsiteX6" fmla="*/ 386069 w 385624"/>
                <a:gd name="connsiteY6" fmla="*/ 31590 h 74475"/>
                <a:gd name="connsiteX7" fmla="*/ 343399 w 385624"/>
                <a:gd name="connsiteY7" fmla="*/ 74260 h 74475"/>
                <a:gd name="connsiteX8" fmla="*/ 343134 w 385624"/>
                <a:gd name="connsiteY8" fmla="*/ 74260 h 7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5624" h="74475">
                  <a:moveTo>
                    <a:pt x="343134" y="74260"/>
                  </a:moveTo>
                  <a:lnTo>
                    <a:pt x="43380" y="74260"/>
                  </a:lnTo>
                  <a:cubicBezTo>
                    <a:pt x="19819" y="74419"/>
                    <a:pt x="604" y="55416"/>
                    <a:pt x="445" y="31855"/>
                  </a:cubicBezTo>
                  <a:cubicBezTo>
                    <a:pt x="445" y="31775"/>
                    <a:pt x="445" y="31669"/>
                    <a:pt x="445" y="31590"/>
                  </a:cubicBezTo>
                  <a:lnTo>
                    <a:pt x="445" y="-214"/>
                  </a:lnTo>
                  <a:lnTo>
                    <a:pt x="386069" y="-214"/>
                  </a:lnTo>
                  <a:lnTo>
                    <a:pt x="386069" y="31590"/>
                  </a:lnTo>
                  <a:cubicBezTo>
                    <a:pt x="386069" y="55152"/>
                    <a:pt x="366960" y="74260"/>
                    <a:pt x="343399" y="74260"/>
                  </a:cubicBezTo>
                  <a:cubicBezTo>
                    <a:pt x="343319" y="74260"/>
                    <a:pt x="343213" y="74260"/>
                    <a:pt x="343134" y="74260"/>
                  </a:cubicBezTo>
                  <a:close/>
                </a:path>
              </a:pathLst>
            </a:custGeom>
            <a:solidFill>
              <a:schemeClr val="tx2"/>
            </a:solidFill>
            <a:ln w="26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1" name="Graphic 8">
              <a:extLst>
                <a:ext uri="{FF2B5EF4-FFF2-40B4-BE49-F238E27FC236}">
                  <a16:creationId xmlns:a16="http://schemas.microsoft.com/office/drawing/2014/main" id="{C5750388-5D98-494D-90ED-EC3ABB1117E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gray">
            <a:xfrm>
              <a:off x="11101996" y="5769260"/>
              <a:ext cx="385624" cy="67705"/>
            </a:xfrm>
            <a:custGeom>
              <a:avLst/>
              <a:gdLst>
                <a:gd name="connsiteX0" fmla="*/ 343133 w 385624"/>
                <a:gd name="connsiteY0" fmla="*/ 74260 h 74475"/>
                <a:gd name="connsiteX1" fmla="*/ 43380 w 385624"/>
                <a:gd name="connsiteY1" fmla="*/ 74260 h 74475"/>
                <a:gd name="connsiteX2" fmla="*/ 445 w 385624"/>
                <a:gd name="connsiteY2" fmla="*/ 31855 h 74475"/>
                <a:gd name="connsiteX3" fmla="*/ 445 w 385624"/>
                <a:gd name="connsiteY3" fmla="*/ 31590 h 74475"/>
                <a:gd name="connsiteX4" fmla="*/ 445 w 385624"/>
                <a:gd name="connsiteY4" fmla="*/ -214 h 74475"/>
                <a:gd name="connsiteX5" fmla="*/ 386069 w 385624"/>
                <a:gd name="connsiteY5" fmla="*/ -214 h 74475"/>
                <a:gd name="connsiteX6" fmla="*/ 386069 w 385624"/>
                <a:gd name="connsiteY6" fmla="*/ 31590 h 74475"/>
                <a:gd name="connsiteX7" fmla="*/ 343399 w 385624"/>
                <a:gd name="connsiteY7" fmla="*/ 74260 h 74475"/>
                <a:gd name="connsiteX8" fmla="*/ 343133 w 385624"/>
                <a:gd name="connsiteY8" fmla="*/ 74260 h 7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5624" h="74475">
                  <a:moveTo>
                    <a:pt x="343133" y="74260"/>
                  </a:moveTo>
                  <a:lnTo>
                    <a:pt x="43380" y="74260"/>
                  </a:lnTo>
                  <a:cubicBezTo>
                    <a:pt x="19819" y="74419"/>
                    <a:pt x="604" y="55416"/>
                    <a:pt x="445" y="31855"/>
                  </a:cubicBezTo>
                  <a:cubicBezTo>
                    <a:pt x="445" y="31775"/>
                    <a:pt x="445" y="31669"/>
                    <a:pt x="445" y="31590"/>
                  </a:cubicBezTo>
                  <a:lnTo>
                    <a:pt x="445" y="-214"/>
                  </a:lnTo>
                  <a:lnTo>
                    <a:pt x="386069" y="-214"/>
                  </a:lnTo>
                  <a:lnTo>
                    <a:pt x="386069" y="31590"/>
                  </a:lnTo>
                  <a:cubicBezTo>
                    <a:pt x="386069" y="55152"/>
                    <a:pt x="366960" y="74260"/>
                    <a:pt x="343399" y="74260"/>
                  </a:cubicBezTo>
                  <a:cubicBezTo>
                    <a:pt x="343319" y="74260"/>
                    <a:pt x="343213" y="74260"/>
                    <a:pt x="343133" y="74260"/>
                  </a:cubicBezTo>
                  <a:close/>
                </a:path>
              </a:pathLst>
            </a:custGeom>
            <a:solidFill>
              <a:schemeClr val="tx2"/>
            </a:solidFill>
            <a:ln w="26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2" name="Graphic 8">
              <a:extLst>
                <a:ext uri="{FF2B5EF4-FFF2-40B4-BE49-F238E27FC236}">
                  <a16:creationId xmlns:a16="http://schemas.microsoft.com/office/drawing/2014/main" id="{C825B732-0A00-44B2-83C8-4B12124089AE}"/>
                </a:ext>
              </a:extLst>
            </p:cNvPr>
            <p:cNvSpPr/>
            <p:nvPr/>
          </p:nvSpPr>
          <p:spPr bwMode="gray">
            <a:xfrm>
              <a:off x="9918885" y="5769260"/>
              <a:ext cx="385624" cy="67704"/>
            </a:xfrm>
            <a:custGeom>
              <a:avLst/>
              <a:gdLst>
                <a:gd name="connsiteX0" fmla="*/ 343399 w 385624"/>
                <a:gd name="connsiteY0" fmla="*/ 74260 h 74474"/>
                <a:gd name="connsiteX1" fmla="*/ 43381 w 385624"/>
                <a:gd name="connsiteY1" fmla="*/ 74260 h 74474"/>
                <a:gd name="connsiteX2" fmla="*/ 445 w 385624"/>
                <a:gd name="connsiteY2" fmla="*/ 31590 h 74474"/>
                <a:gd name="connsiteX3" fmla="*/ 445 w 385624"/>
                <a:gd name="connsiteY3" fmla="*/ -214 h 74474"/>
                <a:gd name="connsiteX4" fmla="*/ 386070 w 385624"/>
                <a:gd name="connsiteY4" fmla="*/ -214 h 74474"/>
                <a:gd name="connsiteX5" fmla="*/ 386070 w 385624"/>
                <a:gd name="connsiteY5" fmla="*/ 31590 h 74474"/>
                <a:gd name="connsiteX6" fmla="*/ 343399 w 385624"/>
                <a:gd name="connsiteY6" fmla="*/ 74260 h 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624" h="74474">
                  <a:moveTo>
                    <a:pt x="343399" y="74260"/>
                  </a:moveTo>
                  <a:lnTo>
                    <a:pt x="43381" y="74260"/>
                  </a:lnTo>
                  <a:cubicBezTo>
                    <a:pt x="19766" y="74260"/>
                    <a:pt x="604" y="55204"/>
                    <a:pt x="445" y="31590"/>
                  </a:cubicBezTo>
                  <a:lnTo>
                    <a:pt x="445" y="-214"/>
                  </a:lnTo>
                  <a:lnTo>
                    <a:pt x="386070" y="-214"/>
                  </a:lnTo>
                  <a:lnTo>
                    <a:pt x="386070" y="31590"/>
                  </a:lnTo>
                  <a:cubicBezTo>
                    <a:pt x="386070" y="55152"/>
                    <a:pt x="366960" y="74260"/>
                    <a:pt x="343399" y="74260"/>
                  </a:cubicBezTo>
                  <a:close/>
                </a:path>
              </a:pathLst>
            </a:custGeom>
            <a:solidFill>
              <a:schemeClr val="tx2"/>
            </a:solidFill>
            <a:ln w="26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43" name="Rechteck 22">
            <a:extLst>
              <a:ext uri="{FF2B5EF4-FFF2-40B4-BE49-F238E27FC236}">
                <a16:creationId xmlns:a16="http://schemas.microsoft.com/office/drawing/2014/main" id="{CBFE8A66-761E-4E06-817D-7AF9DB96F34A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0" y="4797292"/>
            <a:ext cx="1703388" cy="1260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tIns="126000" bIns="72000" rtlCol="0" anchor="t"/>
          <a:lstStyle/>
          <a:p>
            <a:endParaRPr lang="en-US" sz="1400" b="1">
              <a:solidFill>
                <a:srgbClr val="009FE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" name="Rechteck 22">
            <a:extLst>
              <a:ext uri="{FF2B5EF4-FFF2-40B4-BE49-F238E27FC236}">
                <a16:creationId xmlns:a16="http://schemas.microsoft.com/office/drawing/2014/main" id="{54AD9F60-B627-4700-A183-E0B33451AB7E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8904592" y="1160748"/>
            <a:ext cx="2520000" cy="1332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252000" rtlCol="0" anchor="t"/>
          <a:lstStyle/>
          <a:p>
            <a:pPr algn="ctr"/>
            <a:endParaRPr lang="en-US" sz="2000" b="1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7" name="Text Placeholder 3">
            <a:extLst>
              <a:ext uri="{FF2B5EF4-FFF2-40B4-BE49-F238E27FC236}">
                <a16:creationId xmlns:a16="http://schemas.microsoft.com/office/drawing/2014/main" id="{8D0DE548-E9D2-4F6A-BE14-E240D13F2A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2609" y="1232756"/>
            <a:ext cx="2519672" cy="1332000"/>
          </a:xfr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lIns="504000" tIns="288000" rIns="144000" bIns="14400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70" name="Text Placeholder 3">
            <a:extLst>
              <a:ext uri="{FF2B5EF4-FFF2-40B4-BE49-F238E27FC236}">
                <a16:creationId xmlns:a16="http://schemas.microsoft.com/office/drawing/2014/main" id="{E7DA00C2-CB7D-4D2E-9439-3F6D7D89A8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324" y="4948924"/>
            <a:ext cx="1692064" cy="956736"/>
          </a:xfrm>
        </p:spPr>
        <p:txBody>
          <a:bodyPr lIns="0" tIns="0" rIns="144000" bIns="0" anchor="ctr" anchorCtr="0">
            <a:noAutofit/>
          </a:bodyPr>
          <a:lstStyle>
            <a:lvl1pPr algn="r">
              <a:buNone/>
              <a:defRPr sz="4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pl-PL"/>
              <a:t>000</a:t>
            </a:r>
            <a:endParaRPr lang="en-GB"/>
          </a:p>
        </p:txBody>
      </p:sp>
      <p:sp>
        <p:nvSpPr>
          <p:cNvPr id="172" name="Text Placeholder 3">
            <a:extLst>
              <a:ext uri="{FF2B5EF4-FFF2-40B4-BE49-F238E27FC236}">
                <a16:creationId xmlns:a16="http://schemas.microsoft.com/office/drawing/2014/main" id="{76310A97-B96F-4013-8E01-4AC633F792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58144" y="1302672"/>
            <a:ext cx="720000" cy="720000"/>
          </a:xfrm>
          <a:prstGeom prst="ellipse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25400">
            <a:solidFill>
              <a:schemeClr val="bg1"/>
            </a:solidFill>
          </a:ln>
        </p:spPr>
        <p:txBody>
          <a:bodyPr lIns="0" tIns="0" rIns="0" bIns="0" anchor="ctr" anchorCtr="0">
            <a:noAutofit/>
          </a:bodyPr>
          <a:lstStyle>
            <a:lvl1pPr algn="ctr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/>
              <a:t>000</a:t>
            </a:r>
            <a:endParaRPr lang="en-GB"/>
          </a:p>
        </p:txBody>
      </p:sp>
      <p:sp>
        <p:nvSpPr>
          <p:cNvPr id="174" name="Rechteck 22">
            <a:extLst>
              <a:ext uri="{FF2B5EF4-FFF2-40B4-BE49-F238E27FC236}">
                <a16:creationId xmlns:a16="http://schemas.microsoft.com/office/drawing/2014/main" id="{FFA0F5B5-F586-4B10-A55A-AE332A18EB45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8904592" y="4401108"/>
            <a:ext cx="2520000" cy="1332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252000" rtlCol="0" anchor="t"/>
          <a:lstStyle/>
          <a:p>
            <a:pPr algn="ctr"/>
            <a:endParaRPr lang="en-US" sz="2000" b="1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5" name="Text Placeholder 3">
            <a:extLst>
              <a:ext uri="{FF2B5EF4-FFF2-40B4-BE49-F238E27FC236}">
                <a16:creationId xmlns:a16="http://schemas.microsoft.com/office/drawing/2014/main" id="{EC7278C5-627E-4081-BE78-7DC81DD7D7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32609" y="4473116"/>
            <a:ext cx="2519672" cy="1332000"/>
          </a:xfr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vert="horz" lIns="504000" tIns="288000" rIns="144000" bIns="144000" rtlCol="0">
            <a:normAutofit/>
          </a:bodyPr>
          <a:lstStyle>
            <a:lvl1pPr marL="0" indent="0">
              <a:buNone/>
              <a:defRPr lang="en-GB" sz="2000" b="1" dirty="0">
                <a:solidFill>
                  <a:schemeClr val="tx2"/>
                </a:solidFill>
              </a:defRPr>
            </a:lvl1pPr>
          </a:lstStyle>
          <a:p>
            <a:pPr marL="228611" lvl="0" indent="-228611">
              <a:lnSpc>
                <a:spcPct val="100000"/>
              </a:lnSpc>
              <a:spcBef>
                <a:spcPts val="0"/>
              </a:spcBef>
            </a:pPr>
            <a:r>
              <a:rPr lang="en-GB"/>
              <a:t>Description</a:t>
            </a:r>
          </a:p>
        </p:txBody>
      </p:sp>
      <p:sp>
        <p:nvSpPr>
          <p:cNvPr id="176" name="Text Placeholder 3">
            <a:extLst>
              <a:ext uri="{FF2B5EF4-FFF2-40B4-BE49-F238E27FC236}">
                <a16:creationId xmlns:a16="http://schemas.microsoft.com/office/drawing/2014/main" id="{ABF5F8D6-B992-449F-AAEC-B7D513D9B5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58144" y="4543032"/>
            <a:ext cx="720000" cy="720000"/>
          </a:xfrm>
          <a:prstGeom prst="ellipse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25400">
            <a:solidFill>
              <a:schemeClr val="bg1"/>
            </a:solidFill>
          </a:ln>
        </p:spPr>
        <p:txBody>
          <a:bodyPr lIns="0" tIns="0" rIns="0" bIns="0" anchor="ctr" anchorCtr="0">
            <a:noAutofit/>
          </a:bodyPr>
          <a:lstStyle>
            <a:lvl1pPr algn="ctr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/>
              <a:t>000</a:t>
            </a:r>
            <a:endParaRPr lang="en-GB"/>
          </a:p>
        </p:txBody>
      </p:sp>
      <p:sp>
        <p:nvSpPr>
          <p:cNvPr id="177" name="Rechteck 22">
            <a:extLst>
              <a:ext uri="{FF2B5EF4-FFF2-40B4-BE49-F238E27FC236}">
                <a16:creationId xmlns:a16="http://schemas.microsoft.com/office/drawing/2014/main" id="{3532B7CB-D4B0-4DB1-B04F-8E1E31CD9522}"/>
              </a:ext>
            </a:extLst>
          </p:cNvPr>
          <p:cNvSpPr/>
          <p:nvPr userDrawn="1">
            <p:custDataLst>
              <p:tags r:id="rId7"/>
            </p:custDataLst>
          </p:nvPr>
        </p:nvSpPr>
        <p:spPr bwMode="gray">
          <a:xfrm>
            <a:off x="8904592" y="2780928"/>
            <a:ext cx="2520000" cy="1332000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252000" rtlCol="0" anchor="t"/>
          <a:lstStyle/>
          <a:p>
            <a:pPr algn="ctr"/>
            <a:endParaRPr lang="en-US" sz="2000" b="1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8" name="Text Placeholder 3">
            <a:extLst>
              <a:ext uri="{FF2B5EF4-FFF2-40B4-BE49-F238E27FC236}">
                <a16:creationId xmlns:a16="http://schemas.microsoft.com/office/drawing/2014/main" id="{1175D43F-A21E-4E54-8D17-AD2BF60BB4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32609" y="2852936"/>
            <a:ext cx="2519672" cy="1332000"/>
          </a:xfr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vert="horz" lIns="504000" tIns="288000" rIns="144000" bIns="144000" rtlCol="0">
            <a:normAutofit/>
          </a:bodyPr>
          <a:lstStyle>
            <a:lvl1pPr marL="0" indent="0">
              <a:buNone/>
              <a:defRPr lang="en-GB" sz="2000" b="1" dirty="0">
                <a:solidFill>
                  <a:schemeClr val="tx2"/>
                </a:solidFill>
              </a:defRPr>
            </a:lvl1pPr>
          </a:lstStyle>
          <a:p>
            <a:pPr marL="228611" lvl="0" indent="-228611">
              <a:lnSpc>
                <a:spcPct val="100000"/>
              </a:lnSpc>
              <a:spcBef>
                <a:spcPts val="0"/>
              </a:spcBef>
            </a:pPr>
            <a:r>
              <a:rPr lang="en-GB"/>
              <a:t>Description</a:t>
            </a:r>
          </a:p>
        </p:txBody>
      </p:sp>
      <p:sp>
        <p:nvSpPr>
          <p:cNvPr id="179" name="Text Placeholder 3">
            <a:extLst>
              <a:ext uri="{FF2B5EF4-FFF2-40B4-BE49-F238E27FC236}">
                <a16:creationId xmlns:a16="http://schemas.microsoft.com/office/drawing/2014/main" id="{7A047DE7-3B3C-491D-9211-B8A383ABE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58144" y="2922852"/>
            <a:ext cx="720000" cy="720000"/>
          </a:xfrm>
          <a:prstGeom prst="ellipse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25400">
            <a:solidFill>
              <a:schemeClr val="bg1"/>
            </a:solidFill>
          </a:ln>
        </p:spPr>
        <p:txBody>
          <a:bodyPr lIns="0" tIns="0" rIns="0" bIns="0" anchor="ctr" anchorCtr="0">
            <a:noAutofit/>
          </a:bodyPr>
          <a:lstStyle>
            <a:lvl1pPr algn="ctr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/>
              <a:t>000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692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2820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60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751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41212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222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1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</p:spTree>
    <p:extLst>
      <p:ext uri="{BB962C8B-B14F-4D97-AF65-F5344CB8AC3E}">
        <p14:creationId xmlns:p14="http://schemas.microsoft.com/office/powerpoint/2010/main" val="296930082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8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25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22272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1556792"/>
            <a:ext cx="10658475" cy="45360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3399081-B28F-4ABA-A951-E201993748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099518-9EB8-41FF-B9F6-30B2EC8991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56829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440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91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3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283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754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855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290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236BD-F32B-49D8-9F01-5909BFB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1FED50-E4A3-4EBE-B38A-E17AF3F9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71864" y="3144355"/>
            <a:ext cx="2447912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4876430" y="3576370"/>
            <a:ext cx="244791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8040592" y="3576337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Address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8040592" y="4152215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8040592" y="4728059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8040592" y="5297761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8040592" y="5805296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536160" y="3507293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7536160" y="4083872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7536160" y="4658435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7608112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7608112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8950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069">
          <p15:clr>
            <a:srgbClr val="5ACBF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36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Relationship Id="rId2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11.xml"/><Relationship Id="rId16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249B9-D8E8-1B80-BED2-46315F95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4B9F0-FC88-072C-C60B-82BE443C5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50CFC-647E-5728-FC73-3881B205C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5F99A-F7A6-40BB-BA62-013ABD624F4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271D8-250B-7830-B2DD-6A14BFEE7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B6C0D-2311-9359-1A27-13748C13B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F843D-5A34-43A1-A955-0D277F5FA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3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CE0DF8-821F-4C30-892B-307669EE6CF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3" y="2133599"/>
            <a:ext cx="10658475" cy="39592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3B0CB32-D26C-4139-AC97-E615E3B183C5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1DC9A3A-ED32-4D4A-8D19-82540736128D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4806E07-6018-4E57-B4F4-8AC531367F2F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5DE8584-6E72-4669-AAC3-55D6D4CF1F80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46B53A-62D7-4048-A306-E08508CA9F04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B0281E8-DEEF-4F7C-BC61-93198CAAFD38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AB5255D-CE7A-424C-86F5-B3506F3CF776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A0C3F2F-BD2D-471F-A7EC-96B76086BCC2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366713-9D75-410E-8FEC-A3C9DEDF5C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3" y="260752"/>
            <a:ext cx="7921625" cy="936000"/>
          </a:xfrm>
          <a:prstGeom prst="rect">
            <a:avLst/>
          </a:prstGeom>
        </p:spPr>
        <p:txBody>
          <a:bodyPr vert="horz" lIns="0" tIns="0" rIns="0" bIns="54000" rtlCol="0" anchor="b">
            <a:normAutofit/>
          </a:bodyPr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59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445779-4552-9EBE-7574-A86B4E605B07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3" y="2133600"/>
            <a:ext cx="10658475" cy="3959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Mastertextformat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Ebene</a:t>
            </a:r>
          </a:p>
          <a:p>
            <a:pPr lvl="2"/>
            <a:r>
              <a:rPr lang="en-GB" dirty="0" err="1"/>
              <a:t>Dritte</a:t>
            </a:r>
            <a:r>
              <a:rPr lang="en-GB" dirty="0"/>
              <a:t> Ebene</a:t>
            </a:r>
          </a:p>
          <a:p>
            <a:pPr lvl="3"/>
            <a:r>
              <a:rPr lang="en-GB" dirty="0" err="1"/>
              <a:t>Vierte</a:t>
            </a:r>
            <a:r>
              <a:rPr lang="en-GB" dirty="0"/>
              <a:t> Ebene</a:t>
            </a:r>
          </a:p>
          <a:p>
            <a:pPr lvl="4"/>
            <a:r>
              <a:rPr lang="en-GB" dirty="0" err="1"/>
              <a:t>Fünfte</a:t>
            </a:r>
            <a:r>
              <a:rPr lang="en-GB" dirty="0"/>
              <a:t> Ebene</a:t>
            </a:r>
          </a:p>
          <a:p>
            <a:pPr lvl="5"/>
            <a:r>
              <a:rPr lang="en-GB" dirty="0" err="1"/>
              <a:t>Sechs</a:t>
            </a:r>
            <a:endParaRPr lang="en-GB" dirty="0"/>
          </a:p>
          <a:p>
            <a:pPr lvl="6"/>
            <a:r>
              <a:rPr lang="en-GB" dirty="0"/>
              <a:t>Sieben</a:t>
            </a:r>
          </a:p>
          <a:p>
            <a:pPr lvl="7"/>
            <a:r>
              <a:rPr lang="en-GB" dirty="0" err="1"/>
              <a:t>Acht</a:t>
            </a:r>
            <a:endParaRPr lang="en-GB" dirty="0"/>
          </a:p>
          <a:p>
            <a:pPr lvl="8"/>
            <a:r>
              <a:rPr lang="en-GB" dirty="0" err="1"/>
              <a:t>Neun</a:t>
            </a:r>
            <a:endParaRPr lang="en-GB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A71026E-677B-486E-2F7B-DE73FF62E388}"/>
              </a:ext>
            </a:extLst>
          </p:cNvPr>
          <p:cNvSpPr/>
          <p:nvPr userDrawn="1"/>
        </p:nvSpPr>
        <p:spPr bwMode="gray">
          <a:xfrm>
            <a:off x="766763" y="-171450"/>
            <a:ext cx="1081087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6B18C8D-8755-67EB-D909-E9975C582871}"/>
              </a:ext>
            </a:extLst>
          </p:cNvPr>
          <p:cNvSpPr/>
          <p:nvPr userDrawn="1"/>
        </p:nvSpPr>
        <p:spPr bwMode="gray">
          <a:xfrm>
            <a:off x="213518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12B464A-8153-954A-67CC-408A38214D4D}"/>
              </a:ext>
            </a:extLst>
          </p:cNvPr>
          <p:cNvSpPr/>
          <p:nvPr userDrawn="1"/>
        </p:nvSpPr>
        <p:spPr bwMode="gray">
          <a:xfrm>
            <a:off x="350361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957FD8C-3FAA-8978-770D-0281E9A7E396}"/>
              </a:ext>
            </a:extLst>
          </p:cNvPr>
          <p:cNvSpPr/>
          <p:nvPr userDrawn="1"/>
        </p:nvSpPr>
        <p:spPr bwMode="gray">
          <a:xfrm>
            <a:off x="4872038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4DC0BE5-E774-A8C5-5F74-A722EAAFE641}"/>
              </a:ext>
            </a:extLst>
          </p:cNvPr>
          <p:cNvSpPr/>
          <p:nvPr userDrawn="1"/>
        </p:nvSpPr>
        <p:spPr bwMode="gray">
          <a:xfrm>
            <a:off x="6240463" y="-171450"/>
            <a:ext cx="1079500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89E9A21-25AD-64DE-6487-3B7ABABB54E5}"/>
              </a:ext>
            </a:extLst>
          </p:cNvPr>
          <p:cNvSpPr/>
          <p:nvPr userDrawn="1"/>
        </p:nvSpPr>
        <p:spPr bwMode="gray">
          <a:xfrm>
            <a:off x="760730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07E6486-CAB8-A993-4B02-D542EB030AE7}"/>
              </a:ext>
            </a:extLst>
          </p:cNvPr>
          <p:cNvSpPr/>
          <p:nvPr userDrawn="1"/>
        </p:nvSpPr>
        <p:spPr bwMode="gray">
          <a:xfrm>
            <a:off x="8975725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EC99E61-CCC6-DBA2-96AA-CC7699500067}"/>
              </a:ext>
            </a:extLst>
          </p:cNvPr>
          <p:cNvSpPr/>
          <p:nvPr userDrawn="1"/>
        </p:nvSpPr>
        <p:spPr bwMode="gray">
          <a:xfrm>
            <a:off x="10344150" y="-171450"/>
            <a:ext cx="1081088" cy="714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037" name="Titelplatzhalter 1">
            <a:extLst>
              <a:ext uri="{FF2B5EF4-FFF2-40B4-BE49-F238E27FC236}">
                <a16:creationId xmlns:a16="http://schemas.microsoft.com/office/drawing/2014/main" id="{1059BA69-2BC5-FFDE-6EC6-ED3851482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766763" y="260350"/>
            <a:ext cx="79216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54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6688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Segoe UI" panose="020B05020402040202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Segoe UI" panose="020B05020402040202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Segoe UI" panose="020B05020402040202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Segoe UI" panose="020B05020402040202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Segoe UI" panose="020B05020402040202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Segoe UI" panose="020B05020402040202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Segoe UI" panose="020B05020402040202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Segoe UI" panose="020B0502040204020203" pitchFamily="34" charset="0"/>
        </a:defRPr>
      </a:lvl9pPr>
    </p:titleStyle>
    <p:bodyStyle>
      <a:lvl1pPr algn="l" rtl="0" eaLnBrk="0" fontAlgn="base" hangingPunct="0">
        <a:spcBef>
          <a:spcPts val="1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250825" indent="-250825" algn="l" rtl="0" eaLnBrk="0" fontAlgn="base" hangingPunct="0">
        <a:spcBef>
          <a:spcPts val="500"/>
        </a:spcBef>
        <a:spcAft>
          <a:spcPct val="0"/>
        </a:spcAft>
        <a:buFont typeface="Segoe UI" panose="020B0502040204020203" pitchFamily="34" charset="0"/>
        <a:buChar char="−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503238" indent="-250825" algn="l" rtl="0" eaLnBrk="0" fontAlgn="base" hangingPunct="0">
        <a:spcBef>
          <a:spcPts val="500"/>
        </a:spcBef>
        <a:spcAft>
          <a:spcPct val="0"/>
        </a:spcAft>
        <a:buFont typeface="Segoe UI" panose="020B0502040204020203" pitchFamily="34" charset="0"/>
        <a:buChar char="−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755650" indent="-250825" algn="l" rtl="0" eaLnBrk="0" fontAlgn="base" hangingPunct="0">
        <a:spcBef>
          <a:spcPts val="500"/>
        </a:spcBef>
        <a:spcAft>
          <a:spcPct val="0"/>
        </a:spcAft>
        <a:buFont typeface="Segoe UI" panose="020B0502040204020203" pitchFamily="34" charset="0"/>
        <a:buChar char="−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algn="l" rtl="0" eaLnBrk="0" fontAlgn="base" hangingPunct="0">
        <a:spcBef>
          <a:spcPts val="500"/>
        </a:spcBef>
        <a:spcAft>
          <a:spcPct val="0"/>
        </a:spcAft>
        <a:buFont typeface="Segoe UI" panose="020B0502040204020203" pitchFamily="34" charset="0"/>
        <a:defRPr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CE0DF8-821F-4C30-892B-307669EE6CF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4" y="2133600"/>
            <a:ext cx="10658475" cy="39592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6C3840-DFAA-4153-A3DF-F2C9EDA63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9AF998-D1FE-439C-B6E2-79EA2D874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3B0CB32-D26C-4139-AC97-E615E3B183C5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1DC9A3A-ED32-4D4A-8D19-82540736128D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4806E07-6018-4E57-B4F4-8AC531367F2F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5DE8584-6E72-4669-AAC3-55D6D4CF1F80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46B53A-62D7-4048-A306-E08508CA9F04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B0281E8-DEEF-4F7C-BC61-93198CAAFD38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AB5255D-CE7A-424C-86F5-B3506F3CF776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A0C3F2F-BD2D-471F-A7EC-96B76086BCC2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366713-9D75-410E-8FEC-A3C9DEDF5C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7921625" cy="936000"/>
          </a:xfrm>
          <a:prstGeom prst="rect">
            <a:avLst/>
          </a:prstGeom>
        </p:spPr>
        <p:txBody>
          <a:bodyPr vert="horz" lIns="0" tIns="0" rIns="0" bIns="54000" rtlCol="0" anchor="b">
            <a:normAutofit/>
          </a:bodyPr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1B033B9-7AD3-419A-AC77-478506CCB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5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</p:sldLayoutIdLst>
  <p:hf hdr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13" indent="-252013" algn="l" defTabSz="914446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25" indent="-252013" algn="l" defTabSz="914446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38" indent="-252013" algn="l" defTabSz="914446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46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0" indent="0" algn="l" defTabSz="914446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6pPr>
      <a:lvl7pPr marL="0" indent="0" algn="l" defTabSz="914446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7pPr>
      <a:lvl8pPr marL="0" indent="0" algn="l" defTabSz="914446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8pPr>
      <a:lvl9pPr marL="0" indent="0" algn="l" defTabSz="914446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CE0DF8-821F-4C30-892B-307669EE6CF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3" y="2133599"/>
            <a:ext cx="10658475" cy="39592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6C3840-DFAA-4153-A3DF-F2C9EDA63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9AF998-D1FE-439C-B6E2-79EA2D874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3B0CB32-D26C-4139-AC97-E615E3B183C5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1DC9A3A-ED32-4D4A-8D19-82540736128D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4806E07-6018-4E57-B4F4-8AC531367F2F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5DE8584-6E72-4669-AAC3-55D6D4CF1F80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46B53A-62D7-4048-A306-E08508CA9F04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B0281E8-DEEF-4F7C-BC61-93198CAAFD38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AB5255D-CE7A-424C-86F5-B3506F3CF776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A0C3F2F-BD2D-471F-A7EC-96B76086BCC2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366713-9D75-410E-8FEC-A3C9DEDF5C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3" y="260752"/>
            <a:ext cx="7921625" cy="936000"/>
          </a:xfrm>
          <a:prstGeom prst="rect">
            <a:avLst/>
          </a:prstGeom>
        </p:spPr>
        <p:txBody>
          <a:bodyPr vert="horz" lIns="0" tIns="0" rIns="0" bIns="54000" rtlCol="0" anchor="b">
            <a:normAutofit/>
          </a:bodyPr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1B033B9-7AD3-419A-AC77-478506CCB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0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rnational-Data-Spaces-Association/IDS-RAM" TargetMode="External"/><Relationship Id="rId2" Type="http://schemas.openxmlformats.org/officeDocument/2006/relationships/hyperlink" Target="https://kb.internationaldataspaces.org/external/ram/" TargetMode="External"/><Relationship Id="rId1" Type="http://schemas.openxmlformats.org/officeDocument/2006/relationships/slideLayout" Target="../slideLayouts/slideLayout1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rnational-Data-Spaces-Association/IDS-RAM/discussions/9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4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rnational-Data-Spaces-Association/IDS-RAM/pull/110" TargetMode="External"/><Relationship Id="rId2" Type="http://schemas.openxmlformats.org/officeDocument/2006/relationships/hyperlink" Target="https://digitalhubeu.sharepoint.com/:f:/r/sites/IDSAWorkingGroups2/Freigegebene%20Dokumente/General/WG_Architecture/IDS-RAM/Architectural%20Artefacts?csf=1&amp;web=1&amp;e=XUU66g" TargetMode="External"/><Relationship Id="rId1" Type="http://schemas.openxmlformats.org/officeDocument/2006/relationships/slideLayout" Target="../slideLayouts/slideLayout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9C327-D6F2-C838-C213-2F62DB31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5BCC2D-C5E0-C2EC-503C-88A228690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IDS-RAM Architectural Capabilities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BB236E-ED93-4E58-AD7D-33EB2236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9C219-7B40-4F99-BC2B-2492F8AAB063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Ilknur Chulani, IDSA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675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274AF-458B-08F8-546C-224F92E17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Human-readable preview version in IDSA knowledgebase: </a:t>
            </a:r>
            <a:r>
              <a:rPr lang="en-US">
                <a:hlinkClick r:id="rId2"/>
              </a:rPr>
              <a:t>https://kb.internationaldataspaces.org/external/ram/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Repository on GitHub for creating the content: </a:t>
            </a:r>
            <a:r>
              <a:rPr lang="en-US">
                <a:hlinkClick r:id="rId3"/>
              </a:rPr>
              <a:t>https://github.com/International-Data-Spaces-Association/IDS-RAM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807462-F85B-1136-8CF3-A63CA67FD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Contributions are most welcome!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1361DF-CEBC-1AB9-DBD4-682B346C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Working on the next version of IDS-RAM</a:t>
            </a:r>
          </a:p>
        </p:txBody>
      </p:sp>
    </p:spTree>
    <p:extLst>
      <p:ext uri="{BB962C8B-B14F-4D97-AF65-F5344CB8AC3E}">
        <p14:creationId xmlns:p14="http://schemas.microsoft.com/office/powerpoint/2010/main" val="324512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2B3A5-69BA-7669-CCAE-1363272E31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err="1"/>
              <a:t>Discussion</a:t>
            </a:r>
            <a:r>
              <a:rPr lang="de-DE"/>
              <a:t> # 94 - Felix </a:t>
            </a:r>
            <a:r>
              <a:rPr lang="de-DE" err="1"/>
              <a:t>Larrinaga’s</a:t>
            </a:r>
            <a:r>
              <a:rPr lang="de-DE"/>
              <a:t> (</a:t>
            </a:r>
            <a:r>
              <a:rPr lang="de-DE" err="1"/>
              <a:t>MontDragon</a:t>
            </a:r>
            <a:r>
              <a:rPr lang="de-DE"/>
              <a:t> University) </a:t>
            </a:r>
            <a:r>
              <a:rPr lang="de-DE" err="1"/>
              <a:t>proposal</a:t>
            </a:r>
            <a:r>
              <a:rPr lang="de-DE"/>
              <a:t> 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053839-73E7-2BD3-C8A8-94AD41D5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RAM Architectural Capabilities and Patterns</a:t>
            </a:r>
            <a:endParaRPr lang="en-US" b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72CD7-ECB7-1A3E-7D36-8CA3386D4C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901252-72A3-462A-9122-5A80283EDD5A}" type="slidenum">
              <a:rPr kumimoji="0" lang="en-GB" sz="1000" b="0" i="1" u="none" strike="noStrike" kern="1200" cap="none" spc="0" normalizeH="0" baseline="0" noProof="0" smtClean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000" b="0" i="1" u="none" strike="noStrike" kern="1200" cap="none" spc="0" normalizeH="0" baseline="0" noProof="0">
              <a:ln>
                <a:noFill/>
              </a:ln>
              <a:solidFill>
                <a:srgbClr val="0BA2E3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AF97B-4E77-4F7F-4AB3-4BB474005224}"/>
              </a:ext>
            </a:extLst>
          </p:cNvPr>
          <p:cNvSpPr txBox="1"/>
          <p:nvPr/>
        </p:nvSpPr>
        <p:spPr>
          <a:xfrm>
            <a:off x="766763" y="3242405"/>
            <a:ext cx="1023461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400" b="1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How do </a:t>
            </a:r>
            <a:r>
              <a:rPr kumimoji="0" lang="de-DE" sz="2400" b="1" i="1" u="none" strike="noStrike" kern="1200" cap="none" spc="0" normalizeH="0" baseline="0" noProof="0" err="1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we</a:t>
            </a:r>
            <a:r>
              <a:rPr kumimoji="0" lang="de-DE" sz="2400" b="1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de-DE" sz="2400" b="1" i="1" u="none" strike="noStrike" kern="1200" cap="none" spc="0" normalizeH="0" baseline="0" noProof="0" err="1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</a:t>
            </a:r>
            <a:r>
              <a:rPr kumimoji="0" lang="de-DE" sz="2400" b="1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a </a:t>
            </a:r>
            <a:r>
              <a:rPr kumimoji="0" lang="de-DE" sz="2400" b="1" i="1" u="none" strike="noStrike" kern="1200" cap="none" spc="0" normalizeH="0" baseline="0" noProof="0" err="1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pattern</a:t>
            </a:r>
            <a:r>
              <a:rPr kumimoji="0" lang="de-DE" sz="2400" b="1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de-DE" sz="2400" b="1" i="1" u="none" strike="noStrike" kern="1200" cap="none" spc="0" normalizeH="0" baseline="0" noProof="0" err="1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language</a:t>
            </a:r>
            <a:r>
              <a:rPr kumimoji="0" lang="de-DE" sz="2400" b="1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de-DE" sz="2400" b="1" i="1" u="none" strike="noStrike" kern="1200" cap="none" spc="0" normalizeH="0" baseline="0" noProof="0" err="1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</a:t>
            </a:r>
            <a:r>
              <a:rPr kumimoji="0" lang="de-DE" sz="2400" b="1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de-DE" sz="2400" b="1" i="1" u="none" strike="noStrike" kern="1200" cap="none" spc="0" normalizeH="0" baseline="0" noProof="0" err="1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data</a:t>
            </a:r>
            <a:r>
              <a:rPr kumimoji="0" lang="de-DE" sz="2400" b="1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de-DE" sz="2400" b="1" i="1" u="none" strike="noStrike" kern="1200" cap="none" spc="0" normalizeH="0" baseline="0" noProof="0" err="1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spaces</a:t>
            </a:r>
            <a:r>
              <a:rPr kumimoji="0" lang="de-DE" sz="2400" b="1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endParaRPr kumimoji="0" lang="en-US" sz="2400" b="1" i="1" u="none" strike="noStrike" kern="1200" cap="none" spc="0" normalizeH="0" baseline="0" noProof="0">
              <a:ln>
                <a:noFill/>
              </a:ln>
              <a:solidFill>
                <a:srgbClr val="0BA2E3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3"/>
              </a:rPr>
              <a:t>https://github.com/International-Data-Spaces-Association/IDS-RAM/discussions/94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04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21AEA6B-FE47-8429-17F4-877940C6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5F291-B186-437B-9BD4-204251E78F38}" type="slidenum"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pPr marL="0" marR="0" lvl="0" indent="0" algn="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000" b="0" i="1" u="none" strike="noStrike" kern="1200" cap="none" spc="0" normalizeH="0" baseline="0" noProof="0">
              <a:ln>
                <a:noFill/>
              </a:ln>
              <a:solidFill>
                <a:srgbClr val="0BA2E3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B218964-00F6-4219-7533-56506194744F}"/>
              </a:ext>
            </a:extLst>
          </p:cNvPr>
          <p:cNvSpPr/>
          <p:nvPr/>
        </p:nvSpPr>
        <p:spPr>
          <a:xfrm>
            <a:off x="1215550" y="2014966"/>
            <a:ext cx="3082678" cy="68990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D70E870-219C-21A2-C3E6-BDDF5469B5B4}"/>
              </a:ext>
            </a:extLst>
          </p:cNvPr>
          <p:cNvSpPr/>
          <p:nvPr/>
        </p:nvSpPr>
        <p:spPr>
          <a:xfrm>
            <a:off x="802254" y="1943984"/>
            <a:ext cx="826594" cy="826594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4CF3F87-89A9-A18D-951E-4C2C416A450A}"/>
              </a:ext>
            </a:extLst>
          </p:cNvPr>
          <p:cNvSpPr txBox="1"/>
          <p:nvPr/>
        </p:nvSpPr>
        <p:spPr>
          <a:xfrm>
            <a:off x="1768570" y="2201230"/>
            <a:ext cx="2485854" cy="3121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Maintain control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AA9B616-7A50-AC0F-4ED8-778347731D9A}"/>
              </a:ext>
            </a:extLst>
          </p:cNvPr>
          <p:cNvSpPr/>
          <p:nvPr/>
        </p:nvSpPr>
        <p:spPr>
          <a:xfrm>
            <a:off x="1215550" y="2962119"/>
            <a:ext cx="3082678" cy="68990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9674CF0-8DEB-FF73-3587-8736E87EA588}"/>
              </a:ext>
            </a:extLst>
          </p:cNvPr>
          <p:cNvSpPr/>
          <p:nvPr/>
        </p:nvSpPr>
        <p:spPr>
          <a:xfrm>
            <a:off x="802254" y="2891136"/>
            <a:ext cx="826594" cy="826594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53C0841-6AF0-E968-EA3D-677EF7156C12}"/>
              </a:ext>
            </a:extLst>
          </p:cNvPr>
          <p:cNvSpPr txBox="1"/>
          <p:nvPr/>
        </p:nvSpPr>
        <p:spPr>
          <a:xfrm>
            <a:off x="1768570" y="3148383"/>
            <a:ext cx="2485854" cy="3121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Establish trust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BEB3E57-5FA6-39B1-C425-3FE7CE51C917}"/>
              </a:ext>
            </a:extLst>
          </p:cNvPr>
          <p:cNvSpPr/>
          <p:nvPr/>
        </p:nvSpPr>
        <p:spPr>
          <a:xfrm>
            <a:off x="1215550" y="3909271"/>
            <a:ext cx="3082678" cy="68990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01F09A6-9EF3-C769-ABAE-884026F15EFB}"/>
              </a:ext>
            </a:extLst>
          </p:cNvPr>
          <p:cNvSpPr/>
          <p:nvPr/>
        </p:nvSpPr>
        <p:spPr>
          <a:xfrm>
            <a:off x="802254" y="3838288"/>
            <a:ext cx="826594" cy="826594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D175873-26E7-443E-337F-1102783C6998}"/>
              </a:ext>
            </a:extLst>
          </p:cNvPr>
          <p:cNvSpPr txBox="1"/>
          <p:nvPr/>
        </p:nvSpPr>
        <p:spPr>
          <a:xfrm>
            <a:off x="1768570" y="4095535"/>
            <a:ext cx="2485854" cy="3121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Discover data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7901E84-EA6F-E019-EB3D-CCAECA89CC62}"/>
              </a:ext>
            </a:extLst>
          </p:cNvPr>
          <p:cNvSpPr/>
          <p:nvPr/>
        </p:nvSpPr>
        <p:spPr>
          <a:xfrm>
            <a:off x="1215550" y="4856423"/>
            <a:ext cx="3082678" cy="68990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DC2096F-0D3C-CFC6-4C3B-CCCFE3AE57B4}"/>
              </a:ext>
            </a:extLst>
          </p:cNvPr>
          <p:cNvSpPr/>
          <p:nvPr/>
        </p:nvSpPr>
        <p:spPr>
          <a:xfrm>
            <a:off x="802254" y="4785440"/>
            <a:ext cx="826594" cy="826594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CE093C7-A8C0-B86B-C427-590706E18B8D}"/>
              </a:ext>
            </a:extLst>
          </p:cNvPr>
          <p:cNvSpPr txBox="1"/>
          <p:nvPr/>
        </p:nvSpPr>
        <p:spPr>
          <a:xfrm>
            <a:off x="1768570" y="4930533"/>
            <a:ext cx="2485854" cy="3121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Negotiate data </a:t>
            </a:r>
          </a:p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sharing contracts</a:t>
            </a:r>
          </a:p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</a:b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roid Sans" panose="020B0606030804020204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39815C5-CEBC-989A-FC61-CE5374938731}"/>
              </a:ext>
            </a:extLst>
          </p:cNvPr>
          <p:cNvSpPr/>
          <p:nvPr/>
        </p:nvSpPr>
        <p:spPr>
          <a:xfrm>
            <a:off x="5070930" y="2014966"/>
            <a:ext cx="3082678" cy="68990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1002C14-C552-AD06-B2FD-83E16C5D5C31}"/>
              </a:ext>
            </a:extLst>
          </p:cNvPr>
          <p:cNvSpPr/>
          <p:nvPr/>
        </p:nvSpPr>
        <p:spPr>
          <a:xfrm>
            <a:off x="4657634" y="1943984"/>
            <a:ext cx="826594" cy="826594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A7AED98-26E2-1E5C-C637-38D0724307FA}"/>
              </a:ext>
            </a:extLst>
          </p:cNvPr>
          <p:cNvSpPr txBox="1"/>
          <p:nvPr/>
        </p:nvSpPr>
        <p:spPr>
          <a:xfrm>
            <a:off x="5623950" y="2076567"/>
            <a:ext cx="2485854" cy="3121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Orchestration of </a:t>
            </a:r>
          </a:p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data sharing</a:t>
            </a:r>
          </a:p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</a:b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roid Sans" panose="020B0606030804020204"/>
              <a:ea typeface="+mn-ea"/>
              <a:cs typeface="+mn-cs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B42E0B2-C4AB-AC6D-5F3C-84EC4531BC0D}"/>
              </a:ext>
            </a:extLst>
          </p:cNvPr>
          <p:cNvSpPr/>
          <p:nvPr/>
        </p:nvSpPr>
        <p:spPr>
          <a:xfrm>
            <a:off x="5070930" y="2962119"/>
            <a:ext cx="3082678" cy="68990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FB792CC-B86B-E049-7AE5-B540A0535748}"/>
              </a:ext>
            </a:extLst>
          </p:cNvPr>
          <p:cNvSpPr/>
          <p:nvPr/>
        </p:nvSpPr>
        <p:spPr>
          <a:xfrm>
            <a:off x="4657634" y="2891136"/>
            <a:ext cx="826594" cy="826594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7E5E4DC-43BB-139E-224B-DB5E9671A93A}"/>
              </a:ext>
            </a:extLst>
          </p:cNvPr>
          <p:cNvSpPr txBox="1"/>
          <p:nvPr/>
        </p:nvSpPr>
        <p:spPr>
          <a:xfrm>
            <a:off x="5623950" y="3148383"/>
            <a:ext cx="2485854" cy="3121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Observability of action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4D3E9C3-C924-CD37-6698-BC81D54A1DCF}"/>
              </a:ext>
            </a:extLst>
          </p:cNvPr>
          <p:cNvSpPr/>
          <p:nvPr/>
        </p:nvSpPr>
        <p:spPr>
          <a:xfrm>
            <a:off x="5070930" y="3909271"/>
            <a:ext cx="3082678" cy="68990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AA5D681-1E5E-D0A5-FA2B-1928D15FFF7D}"/>
              </a:ext>
            </a:extLst>
          </p:cNvPr>
          <p:cNvSpPr/>
          <p:nvPr/>
        </p:nvSpPr>
        <p:spPr>
          <a:xfrm>
            <a:off x="4657634" y="3838288"/>
            <a:ext cx="826594" cy="826594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0CADCB0-22A4-4AD0-BDD6-FD212DC21F4C}"/>
              </a:ext>
            </a:extLst>
          </p:cNvPr>
          <p:cNvSpPr txBox="1"/>
          <p:nvPr/>
        </p:nvSpPr>
        <p:spPr>
          <a:xfrm>
            <a:off x="5623950" y="4095535"/>
            <a:ext cx="2485854" cy="3121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Interoperability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roid Sans" panose="020B0606030804020204"/>
              <a:ea typeface="+mn-ea"/>
              <a:cs typeface="+mn-cs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C618FF4-AE4B-5A1B-9842-17F0B0B260FB}"/>
              </a:ext>
            </a:extLst>
          </p:cNvPr>
          <p:cNvSpPr/>
          <p:nvPr/>
        </p:nvSpPr>
        <p:spPr>
          <a:xfrm>
            <a:off x="8683942" y="2031729"/>
            <a:ext cx="3082678" cy="1746252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E73C96C-FE14-6DA5-A200-E33964A32B37}"/>
              </a:ext>
            </a:extLst>
          </p:cNvPr>
          <p:cNvSpPr txBox="1"/>
          <p:nvPr/>
        </p:nvSpPr>
        <p:spPr>
          <a:xfrm>
            <a:off x="8926256" y="2532734"/>
            <a:ext cx="2739777" cy="10738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64" marR="0" lvl="0" indent="-285764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Multi-level policies</a:t>
            </a:r>
          </a:p>
          <a:p>
            <a:pPr marL="285764" marR="0" lvl="0" indent="-285764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Semantic models</a:t>
            </a:r>
          </a:p>
          <a:p>
            <a:pPr marL="285764" marR="0" lvl="0" indent="-285764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Communication protocols</a:t>
            </a:r>
          </a:p>
          <a:p>
            <a:pPr marL="285764" marR="0" lvl="0" indent="-285764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Processes and Rules</a:t>
            </a:r>
          </a:p>
        </p:txBody>
      </p:sp>
      <p:pic>
        <p:nvPicPr>
          <p:cNvPr id="28" name="Grafik 27" descr="Lupe Silhouette">
            <a:extLst>
              <a:ext uri="{FF2B5EF4-FFF2-40B4-BE49-F238E27FC236}">
                <a16:creationId xmlns:a16="http://schemas.microsoft.com/office/drawing/2014/main" id="{CB9E03D7-7410-42CB-2E3C-97FF725FD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032" y="3965704"/>
            <a:ext cx="571786" cy="571786"/>
          </a:xfrm>
          <a:prstGeom prst="rect">
            <a:avLst/>
          </a:prstGeom>
        </p:spPr>
      </p:pic>
      <p:pic>
        <p:nvPicPr>
          <p:cNvPr id="30" name="Grafik 29" descr="Klemmbrett Silhouette">
            <a:extLst>
              <a:ext uri="{FF2B5EF4-FFF2-40B4-BE49-F238E27FC236}">
                <a16:creationId xmlns:a16="http://schemas.microsoft.com/office/drawing/2014/main" id="{6702803E-F411-040F-5581-4EBB76813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473" y="4890696"/>
            <a:ext cx="552155" cy="552155"/>
          </a:xfrm>
          <a:prstGeom prst="rect">
            <a:avLst/>
          </a:prstGeom>
        </p:spPr>
      </p:pic>
      <p:pic>
        <p:nvPicPr>
          <p:cNvPr id="32" name="Grafik 31" descr="Auge Silhouette">
            <a:extLst>
              <a:ext uri="{FF2B5EF4-FFF2-40B4-BE49-F238E27FC236}">
                <a16:creationId xmlns:a16="http://schemas.microsoft.com/office/drawing/2014/main" id="{86058729-1921-8048-F56A-A644AE628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8298" y="2986761"/>
            <a:ext cx="665265" cy="665265"/>
          </a:xfrm>
          <a:prstGeom prst="rect">
            <a:avLst/>
          </a:prstGeom>
        </p:spPr>
      </p:pic>
      <p:pic>
        <p:nvPicPr>
          <p:cNvPr id="34" name="Grafik 33" descr="Übertragen Silhouette">
            <a:extLst>
              <a:ext uri="{FF2B5EF4-FFF2-40B4-BE49-F238E27FC236}">
                <a16:creationId xmlns:a16="http://schemas.microsoft.com/office/drawing/2014/main" id="{AC23407B-F2A4-257A-D7C5-843740E3EC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9551" y="2065901"/>
            <a:ext cx="582757" cy="582757"/>
          </a:xfrm>
          <a:prstGeom prst="rect">
            <a:avLst/>
          </a:prstGeom>
        </p:spPr>
      </p:pic>
      <p:pic>
        <p:nvPicPr>
          <p:cNvPr id="36" name="Grafik 35" descr="Schild Silhouette">
            <a:extLst>
              <a:ext uri="{FF2B5EF4-FFF2-40B4-BE49-F238E27FC236}">
                <a16:creationId xmlns:a16="http://schemas.microsoft.com/office/drawing/2014/main" id="{D33CAABC-79C8-4075-7D92-0E5C3C71D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700" y="3005418"/>
            <a:ext cx="581768" cy="581768"/>
          </a:xfrm>
          <a:prstGeom prst="rect">
            <a:avLst/>
          </a:prstGeom>
        </p:spPr>
      </p:pic>
      <p:pic>
        <p:nvPicPr>
          <p:cNvPr id="38" name="Grafik 37" descr="Benutzernetzwerk Silhouette">
            <a:extLst>
              <a:ext uri="{FF2B5EF4-FFF2-40B4-BE49-F238E27FC236}">
                <a16:creationId xmlns:a16="http://schemas.microsoft.com/office/drawing/2014/main" id="{202095A4-327F-F5D3-CE37-0FF5AEDF5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6998" y="3939181"/>
            <a:ext cx="630084" cy="630084"/>
          </a:xfrm>
          <a:prstGeom prst="rect">
            <a:avLst/>
          </a:prstGeom>
        </p:spPr>
      </p:pic>
      <p:pic>
        <p:nvPicPr>
          <p:cNvPr id="40" name="Grafik 39" descr="Schlüssel Silhouette">
            <a:extLst>
              <a:ext uri="{FF2B5EF4-FFF2-40B4-BE49-F238E27FC236}">
                <a16:creationId xmlns:a16="http://schemas.microsoft.com/office/drawing/2014/main" id="{D45CAC0B-D7CF-70F9-0351-C013297F4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7730" y="2056137"/>
            <a:ext cx="629708" cy="629708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2D956BD3-01F6-DEE5-0077-B9A2F1D4E0A0}"/>
              </a:ext>
            </a:extLst>
          </p:cNvPr>
          <p:cNvSpPr/>
          <p:nvPr/>
        </p:nvSpPr>
        <p:spPr>
          <a:xfrm>
            <a:off x="8486241" y="1943984"/>
            <a:ext cx="2510264" cy="451279"/>
          </a:xfrm>
          <a:prstGeom prst="rect">
            <a:avLst/>
          </a:prstGeom>
          <a:solidFill>
            <a:schemeClr val="bg2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CE52ECDB-BBFA-1EBA-E7B5-0E0B41E7B2EB}"/>
              </a:ext>
            </a:extLst>
          </p:cNvPr>
          <p:cNvSpPr txBox="1"/>
          <p:nvPr/>
        </p:nvSpPr>
        <p:spPr>
          <a:xfrm>
            <a:off x="8533069" y="1981031"/>
            <a:ext cx="24492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Functional components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roid Sans" panose="020B0606030804020204"/>
              <a:ea typeface="+mn-ea"/>
              <a:cs typeface="+mn-cs"/>
            </a:endParaRPr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D25D9DCF-6DD3-C9B8-1F21-48C37C0B3951}"/>
              </a:ext>
            </a:extLst>
          </p:cNvPr>
          <p:cNvSpPr txBox="1"/>
          <p:nvPr/>
        </p:nvSpPr>
        <p:spPr>
          <a:xfrm>
            <a:off x="853925" y="870132"/>
            <a:ext cx="9242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roid Sans" panose="020B0606030804020204"/>
                <a:ea typeface="+mn-ea"/>
                <a:cs typeface="+mn-cs"/>
              </a:rPr>
              <a:t>Data space characteristics | ISO/IEC 20151 | IDSA Rulebook    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roid Sans" panose="020B06060308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60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F199-9F6B-B275-174C-BBFEFFE6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2">
            <a:extLst>
              <a:ext uri="{FF2B5EF4-FFF2-40B4-BE49-F238E27FC236}">
                <a16:creationId xmlns:a16="http://schemas.microsoft.com/office/drawing/2014/main" id="{A918F0B9-8CB0-7CC8-191F-1D06A9869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60350"/>
            <a:ext cx="10428123" cy="527495"/>
          </a:xfrm>
        </p:spPr>
        <p:txBody>
          <a:bodyPr anchor="t"/>
          <a:lstStyle/>
          <a:p>
            <a:r>
              <a:rPr lang="en-US" altLang="en-US" sz="2800">
                <a:latin typeface="Droid Sans"/>
              </a:rPr>
              <a:t>Relations and dependencies between the characteristics</a:t>
            </a:r>
            <a:endParaRPr lang="en-US" altLang="en-US">
              <a:highlight>
                <a:srgbClr val="FFFF00"/>
              </a:highlight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A5C9F70-BB43-4673-FE5B-E9AC0304E0FE}"/>
              </a:ext>
            </a:extLst>
          </p:cNvPr>
          <p:cNvSpPr/>
          <p:nvPr/>
        </p:nvSpPr>
        <p:spPr>
          <a:xfrm>
            <a:off x="518546" y="3483582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B. Establishing Trust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00243B6-76E0-94B6-4337-63AA1AE46A1A}"/>
              </a:ext>
            </a:extLst>
          </p:cNvPr>
          <p:cNvSpPr/>
          <p:nvPr/>
        </p:nvSpPr>
        <p:spPr>
          <a:xfrm>
            <a:off x="516209" y="1162958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C. Discoverability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1B9B16-B51F-7425-1E09-0D6095437443}"/>
              </a:ext>
            </a:extLst>
          </p:cNvPr>
          <p:cNvSpPr txBox="1"/>
          <p:nvPr/>
        </p:nvSpPr>
        <p:spPr>
          <a:xfrm>
            <a:off x="725390" y="2695058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Trust enables controlled discovery of data and services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3D06D84-5E2A-D9DC-203F-BF3E27BC21D3}"/>
              </a:ext>
            </a:extLst>
          </p:cNvPr>
          <p:cNvSpPr/>
          <p:nvPr/>
        </p:nvSpPr>
        <p:spPr>
          <a:xfrm>
            <a:off x="4595768" y="1162958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D. Negotiating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Sharing Contracts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2DF7F1-12CF-107F-1824-D93B03DFB586}"/>
              </a:ext>
            </a:extLst>
          </p:cNvPr>
          <p:cNvSpPr txBox="1"/>
          <p:nvPr/>
        </p:nvSpPr>
        <p:spPr>
          <a:xfrm>
            <a:off x="3333440" y="1506177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Catalog offers trigger contract negotiation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8F93531-D32E-670C-DDEB-FC2C98C49551}"/>
              </a:ext>
            </a:extLst>
          </p:cNvPr>
          <p:cNvCxnSpPr>
            <a:stCxn id="41" idx="3"/>
            <a:endCxn id="49" idx="1"/>
          </p:cNvCxnSpPr>
          <p:nvPr/>
        </p:nvCxnSpPr>
        <p:spPr>
          <a:xfrm>
            <a:off x="2993819" y="1733359"/>
            <a:ext cx="1601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FF71C7D-257D-4392-1C48-61237E1DA3D7}"/>
              </a:ext>
            </a:extLst>
          </p:cNvPr>
          <p:cNvSpPr/>
          <p:nvPr/>
        </p:nvSpPr>
        <p:spPr>
          <a:xfrm>
            <a:off x="4595768" y="3487688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E. Orchestrating data sharing and use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92E7342-A480-82E6-10FA-795DACAB8D69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7073378" y="1747731"/>
            <a:ext cx="1602525" cy="1873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F11E303-9D60-BD0F-4EDC-ACEE95208446}"/>
              </a:ext>
            </a:extLst>
          </p:cNvPr>
          <p:cNvSpPr txBox="1"/>
          <p:nvPr/>
        </p:nvSpPr>
        <p:spPr>
          <a:xfrm>
            <a:off x="7126534" y="2225650"/>
            <a:ext cx="1462712" cy="6965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Orchestration triggers peer to peer data sharing and use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4C24E7B-E8AB-72FE-D307-F0D68B16BE23}"/>
              </a:ext>
            </a:extLst>
          </p:cNvPr>
          <p:cNvSpPr/>
          <p:nvPr/>
        </p:nvSpPr>
        <p:spPr>
          <a:xfrm>
            <a:off x="270576" y="5869029"/>
            <a:ext cx="11042845" cy="893944"/>
          </a:xfrm>
          <a:prstGeom prst="round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22860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Space Governance Framework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Roles, Processes and Rules,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Semantic Models and Communication Protocols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7F460-4D32-50E1-7099-99ADDEB89C60}"/>
              </a:ext>
            </a:extLst>
          </p:cNvPr>
          <p:cNvSpPr txBox="1"/>
          <p:nvPr/>
        </p:nvSpPr>
        <p:spPr>
          <a:xfrm>
            <a:off x="4417476" y="5600895"/>
            <a:ext cx="3457164" cy="200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DSGA Sets the overall framework for data sharing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6791AA-D522-441D-E523-E0C343943D7E}"/>
              </a:ext>
            </a:extLst>
          </p:cNvPr>
          <p:cNvSpPr txBox="1"/>
          <p:nvPr/>
        </p:nvSpPr>
        <p:spPr>
          <a:xfrm>
            <a:off x="3587829" y="3763728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Supports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7C923E-A328-6514-1404-6416CEBF180A}"/>
              </a:ext>
            </a:extLst>
          </p:cNvPr>
          <p:cNvCxnSpPr>
            <a:cxnSpLocks/>
            <a:stCxn id="2" idx="3"/>
            <a:endCxn id="57" idx="1"/>
          </p:cNvCxnSpPr>
          <p:nvPr/>
        </p:nvCxnSpPr>
        <p:spPr>
          <a:xfrm>
            <a:off x="2996156" y="4053983"/>
            <a:ext cx="1599612" cy="4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2F250AA-21DB-D606-887F-F587D229FEA2}"/>
              </a:ext>
            </a:extLst>
          </p:cNvPr>
          <p:cNvSpPr/>
          <p:nvPr/>
        </p:nvSpPr>
        <p:spPr>
          <a:xfrm>
            <a:off x="8647015" y="2542174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G. Observing Actions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768ED7-34F0-B2DF-6C07-B8800A30FAB4}"/>
              </a:ext>
            </a:extLst>
          </p:cNvPr>
          <p:cNvSpPr txBox="1"/>
          <p:nvPr/>
        </p:nvSpPr>
        <p:spPr>
          <a:xfrm>
            <a:off x="7571226" y="3215653"/>
            <a:ext cx="1445112" cy="1815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Orchestration generates observable events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1B87FA3-0020-9B2D-7E3E-CB87E6AA08A5}"/>
              </a:ext>
            </a:extLst>
          </p:cNvPr>
          <p:cNvCxnSpPr>
            <a:cxnSpLocks/>
            <a:stCxn id="57" idx="3"/>
            <a:endCxn id="26" idx="1"/>
          </p:cNvCxnSpPr>
          <p:nvPr/>
        </p:nvCxnSpPr>
        <p:spPr>
          <a:xfrm flipV="1">
            <a:off x="7073378" y="3112575"/>
            <a:ext cx="1573637" cy="94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DFF0021-EC0B-51E8-8C02-9CFBBD54C6D1}"/>
              </a:ext>
            </a:extLst>
          </p:cNvPr>
          <p:cNvSpPr/>
          <p:nvPr/>
        </p:nvSpPr>
        <p:spPr>
          <a:xfrm>
            <a:off x="8675903" y="1281344"/>
            <a:ext cx="2477610" cy="932773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F. Actual data sharing &amp; use</a:t>
            </a:r>
            <a:b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Happens peer to peer outside of data space. Transfer of data, or access to it, or other means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F0CA98-F1FF-5C75-03CD-C98724D53704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5834573" y="2303760"/>
            <a:ext cx="0" cy="118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546B5C1-A0DB-547F-4DAD-F097EE03FE42}"/>
              </a:ext>
            </a:extLst>
          </p:cNvPr>
          <p:cNvSpPr txBox="1"/>
          <p:nvPr/>
        </p:nvSpPr>
        <p:spPr>
          <a:xfrm>
            <a:off x="4897554" y="2524811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Agreed contracts authorize orchestration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CF5C3FE-6582-363D-6D88-BD2E571C4FC0}"/>
              </a:ext>
            </a:extLst>
          </p:cNvPr>
          <p:cNvCxnSpPr>
            <a:cxnSpLocks/>
            <a:stCxn id="2" idx="0"/>
            <a:endCxn id="41" idx="2"/>
          </p:cNvCxnSpPr>
          <p:nvPr/>
        </p:nvCxnSpPr>
        <p:spPr>
          <a:xfrm flipH="1" flipV="1">
            <a:off x="1755014" y="2303760"/>
            <a:ext cx="2337" cy="117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8" name="Rectangle: Rounded Corners 22537">
            <a:extLst>
              <a:ext uri="{FF2B5EF4-FFF2-40B4-BE49-F238E27FC236}">
                <a16:creationId xmlns:a16="http://schemas.microsoft.com/office/drawing/2014/main" id="{11525EE2-3D87-1296-BEFD-95D65EB7FA5D}"/>
              </a:ext>
            </a:extLst>
          </p:cNvPr>
          <p:cNvSpPr/>
          <p:nvPr/>
        </p:nvSpPr>
        <p:spPr>
          <a:xfrm>
            <a:off x="8647015" y="4085591"/>
            <a:ext cx="2477610" cy="1140802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H. Optional Services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Marketplaces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Processing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Auditing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escrow &amp; confidential compute</a:t>
            </a: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539" name="Straight Arrow Connector 22538">
            <a:extLst>
              <a:ext uri="{FF2B5EF4-FFF2-40B4-BE49-F238E27FC236}">
                <a16:creationId xmlns:a16="http://schemas.microsoft.com/office/drawing/2014/main" id="{266779BC-977B-5D8F-C4AF-FC8873900AEA}"/>
              </a:ext>
            </a:extLst>
          </p:cNvPr>
          <p:cNvCxnSpPr>
            <a:cxnSpLocks/>
            <a:endCxn id="22538" idx="1"/>
          </p:cNvCxnSpPr>
          <p:nvPr/>
        </p:nvCxnSpPr>
        <p:spPr>
          <a:xfrm>
            <a:off x="7064416" y="4296156"/>
            <a:ext cx="1582599" cy="359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2542">
            <a:extLst>
              <a:ext uri="{FF2B5EF4-FFF2-40B4-BE49-F238E27FC236}">
                <a16:creationId xmlns:a16="http://schemas.microsoft.com/office/drawing/2014/main" id="{DA5AAB80-3D23-9BE4-D656-D6E1529E4C48}"/>
              </a:ext>
            </a:extLst>
          </p:cNvPr>
          <p:cNvSpPr txBox="1"/>
          <p:nvPr/>
        </p:nvSpPr>
        <p:spPr>
          <a:xfrm>
            <a:off x="7553738" y="4268182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Provides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inputs for</a:t>
            </a:r>
          </a:p>
        </p:txBody>
      </p:sp>
      <p:sp>
        <p:nvSpPr>
          <p:cNvPr id="22546" name="Rectangle: Rounded Corners 22545">
            <a:extLst>
              <a:ext uri="{FF2B5EF4-FFF2-40B4-BE49-F238E27FC236}">
                <a16:creationId xmlns:a16="http://schemas.microsoft.com/office/drawing/2014/main" id="{67313B94-AAC7-E22A-E9BF-0E89F4CA97EB}"/>
              </a:ext>
            </a:extLst>
          </p:cNvPr>
          <p:cNvSpPr/>
          <p:nvPr/>
        </p:nvSpPr>
        <p:spPr>
          <a:xfrm>
            <a:off x="270576" y="924911"/>
            <a:ext cx="11042845" cy="4552820"/>
          </a:xfrm>
          <a:prstGeom prst="round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547" name="Straight Arrow Connector 22546">
            <a:extLst>
              <a:ext uri="{FF2B5EF4-FFF2-40B4-BE49-F238E27FC236}">
                <a16:creationId xmlns:a16="http://schemas.microsoft.com/office/drawing/2014/main" id="{6C029C90-4C70-7C3F-7B62-65C2362180A6}"/>
              </a:ext>
            </a:extLst>
          </p:cNvPr>
          <p:cNvCxnSpPr>
            <a:cxnSpLocks/>
          </p:cNvCxnSpPr>
          <p:nvPr/>
        </p:nvCxnSpPr>
        <p:spPr>
          <a:xfrm flipH="1" flipV="1">
            <a:off x="5895445" y="5459770"/>
            <a:ext cx="1" cy="38134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896289D-3E71-583D-678A-60AEED109684}"/>
              </a:ext>
            </a:extLst>
          </p:cNvPr>
          <p:cNvSpPr txBox="1"/>
          <p:nvPr/>
        </p:nvSpPr>
        <p:spPr>
          <a:xfrm rot="16200000">
            <a:off x="9309399" y="3874154"/>
            <a:ext cx="5479534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lti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-level Policies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53FA3C-B0EC-A02C-6F4B-D62306B5DE02}"/>
              </a:ext>
            </a:extLst>
          </p:cNvPr>
          <p:cNvSpPr txBox="1"/>
          <p:nvPr/>
        </p:nvSpPr>
        <p:spPr>
          <a:xfrm rot="16200000">
            <a:off x="11397131" y="5939888"/>
            <a:ext cx="697453" cy="4616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DSGA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Actions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B2022A-3120-0927-DF5B-39A8FC14E226}"/>
              </a:ext>
            </a:extLst>
          </p:cNvPr>
          <p:cNvSpPr txBox="1"/>
          <p:nvPr/>
        </p:nvSpPr>
        <p:spPr>
          <a:xfrm rot="16200000">
            <a:off x="10770194" y="2954338"/>
            <a:ext cx="1660467" cy="1883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Participant Actions</a:t>
            </a:r>
          </a:p>
        </p:txBody>
      </p:sp>
      <p:grpSp>
        <p:nvGrpSpPr>
          <p:cNvPr id="35" name="Gruppieren 10">
            <a:extLst>
              <a:ext uri="{FF2B5EF4-FFF2-40B4-BE49-F238E27FC236}">
                <a16:creationId xmlns:a16="http://schemas.microsoft.com/office/drawing/2014/main" id="{CEDC35C1-E109-7A66-6A21-A5E2E8A99812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11572936" y="3793848"/>
            <a:ext cx="188392" cy="430570"/>
            <a:chOff x="1474539" y="4910386"/>
            <a:chExt cx="738000" cy="1531864"/>
          </a:xfrm>
        </p:grpSpPr>
        <p:sp>
          <p:nvSpPr>
            <p:cNvPr id="36" name="Ellipse 11">
              <a:extLst>
                <a:ext uri="{FF2B5EF4-FFF2-40B4-BE49-F238E27FC236}">
                  <a16:creationId xmlns:a16="http://schemas.microsoft.com/office/drawing/2014/main" id="{1764534C-F8B3-1EE1-33A2-A301DC00C750}"/>
                </a:ext>
              </a:extLst>
            </p:cNvPr>
            <p:cNvSpPr/>
            <p:nvPr/>
          </p:nvSpPr>
          <p:spPr>
            <a:xfrm>
              <a:off x="1617562" y="4910386"/>
              <a:ext cx="451953" cy="449537"/>
            </a:xfrm>
            <a:prstGeom prst="ellipse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7" name="Bogen 12">
              <a:extLst>
                <a:ext uri="{FF2B5EF4-FFF2-40B4-BE49-F238E27FC236}">
                  <a16:creationId xmlns:a16="http://schemas.microsoft.com/office/drawing/2014/main" id="{5144D183-BE28-3857-4A96-9546312ED935}"/>
                </a:ext>
              </a:extLst>
            </p:cNvPr>
            <p:cNvSpPr/>
            <p:nvPr/>
          </p:nvSpPr>
          <p:spPr>
            <a:xfrm>
              <a:off x="1483121" y="5451549"/>
              <a:ext cx="720837" cy="990701"/>
            </a:xfrm>
            <a:prstGeom prst="arc">
              <a:avLst>
                <a:gd name="adj1" fmla="val 10701574"/>
                <a:gd name="adj2" fmla="val 136483"/>
              </a:avLst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38" name="Gerade Verbindung mit Pfeil 13">
              <a:extLst>
                <a:ext uri="{FF2B5EF4-FFF2-40B4-BE49-F238E27FC236}">
                  <a16:creationId xmlns:a16="http://schemas.microsoft.com/office/drawing/2014/main" id="{47C36455-CB47-AE55-AA9F-64A3520E8D9F}"/>
                </a:ext>
              </a:extLst>
            </p:cNvPr>
            <p:cNvCxnSpPr>
              <a:cxnSpLocks/>
            </p:cNvCxnSpPr>
            <p:nvPr/>
          </p:nvCxnSpPr>
          <p:spPr>
            <a:xfrm>
              <a:off x="1474539" y="5949763"/>
              <a:ext cx="738000" cy="0"/>
            </a:xfrm>
            <a:prstGeom prst="straightConnector1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9" name="Gruppieren 10">
            <a:extLst>
              <a:ext uri="{FF2B5EF4-FFF2-40B4-BE49-F238E27FC236}">
                <a16:creationId xmlns:a16="http://schemas.microsoft.com/office/drawing/2014/main" id="{1108FE31-5ABF-AA36-A294-38193039D0DD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11572936" y="6455681"/>
            <a:ext cx="188392" cy="430570"/>
            <a:chOff x="1474539" y="4910386"/>
            <a:chExt cx="738000" cy="1531864"/>
          </a:xfrm>
        </p:grpSpPr>
        <p:sp>
          <p:nvSpPr>
            <p:cNvPr id="40" name="Ellipse 11">
              <a:extLst>
                <a:ext uri="{FF2B5EF4-FFF2-40B4-BE49-F238E27FC236}">
                  <a16:creationId xmlns:a16="http://schemas.microsoft.com/office/drawing/2014/main" id="{DF6E3D61-B97D-63DC-372D-DB1D79C41645}"/>
                </a:ext>
              </a:extLst>
            </p:cNvPr>
            <p:cNvSpPr/>
            <p:nvPr/>
          </p:nvSpPr>
          <p:spPr>
            <a:xfrm>
              <a:off x="1617562" y="4910386"/>
              <a:ext cx="451953" cy="449537"/>
            </a:xfrm>
            <a:prstGeom prst="ellipse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2" name="Bogen 12">
              <a:extLst>
                <a:ext uri="{FF2B5EF4-FFF2-40B4-BE49-F238E27FC236}">
                  <a16:creationId xmlns:a16="http://schemas.microsoft.com/office/drawing/2014/main" id="{EEE3C6E1-B69F-BACD-63AE-920F9F2BBD1E}"/>
                </a:ext>
              </a:extLst>
            </p:cNvPr>
            <p:cNvSpPr/>
            <p:nvPr/>
          </p:nvSpPr>
          <p:spPr>
            <a:xfrm>
              <a:off x="1483121" y="5451549"/>
              <a:ext cx="720837" cy="990701"/>
            </a:xfrm>
            <a:prstGeom prst="arc">
              <a:avLst>
                <a:gd name="adj1" fmla="val 10701574"/>
                <a:gd name="adj2" fmla="val 136483"/>
              </a:avLst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43" name="Gerade Verbindung mit Pfeil 13">
              <a:extLst>
                <a:ext uri="{FF2B5EF4-FFF2-40B4-BE49-F238E27FC236}">
                  <a16:creationId xmlns:a16="http://schemas.microsoft.com/office/drawing/2014/main" id="{3C907B1B-0BC0-25B5-1B19-DF285A5DF491}"/>
                </a:ext>
              </a:extLst>
            </p:cNvPr>
            <p:cNvCxnSpPr>
              <a:cxnSpLocks/>
            </p:cNvCxnSpPr>
            <p:nvPr/>
          </p:nvCxnSpPr>
          <p:spPr>
            <a:xfrm>
              <a:off x="1474539" y="5949763"/>
              <a:ext cx="738000" cy="0"/>
            </a:xfrm>
            <a:prstGeom prst="straightConnector1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1DF724-94A9-7F5C-DF10-98E5B898966B}"/>
              </a:ext>
            </a:extLst>
          </p:cNvPr>
          <p:cNvCxnSpPr>
            <a:cxnSpLocks/>
            <a:stCxn id="26" idx="2"/>
            <a:endCxn id="22538" idx="0"/>
          </p:cNvCxnSpPr>
          <p:nvPr/>
        </p:nvCxnSpPr>
        <p:spPr>
          <a:xfrm>
            <a:off x="9885820" y="3682976"/>
            <a:ext cx="0" cy="402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DB3AFD-FDE6-DD65-181E-C8F44814F98F}"/>
              </a:ext>
            </a:extLst>
          </p:cNvPr>
          <p:cNvSpPr txBox="1"/>
          <p:nvPr/>
        </p:nvSpPr>
        <p:spPr>
          <a:xfrm>
            <a:off x="9244260" y="3713911"/>
            <a:ext cx="913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enables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9718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2CFC-1AC6-044B-4208-86AA6243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2">
            <a:extLst>
              <a:ext uri="{FF2B5EF4-FFF2-40B4-BE49-F238E27FC236}">
                <a16:creationId xmlns:a16="http://schemas.microsoft.com/office/drawing/2014/main" id="{7611252E-60CE-6C98-F177-974B5EC3D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5027" y="-52283"/>
            <a:ext cx="9407384" cy="544511"/>
          </a:xfrm>
        </p:spPr>
        <p:txBody>
          <a:bodyPr/>
          <a:lstStyle/>
          <a:p>
            <a:r>
              <a:rPr lang="en-US" altLang="en-US" sz="2800"/>
              <a:t>IDS-RAM Architectural Capabilities</a:t>
            </a:r>
            <a:endParaRPr lang="en-US" altLang="en-US" sz="2800" b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CDE48A-E5CB-C05D-1C7D-99A5943E6810}"/>
              </a:ext>
            </a:extLst>
          </p:cNvPr>
          <p:cNvSpPr/>
          <p:nvPr/>
        </p:nvSpPr>
        <p:spPr>
          <a:xfrm>
            <a:off x="427364" y="3034231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B. Credentials &amp; Claims 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C20958E-1B61-6344-F72F-8AD428F85B20}"/>
              </a:ext>
            </a:extLst>
          </p:cNvPr>
          <p:cNvSpPr/>
          <p:nvPr/>
        </p:nvSpPr>
        <p:spPr>
          <a:xfrm>
            <a:off x="425027" y="713607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C. </a:t>
            </a:r>
            <a:r>
              <a:rPr kumimoji="0" lang="en-GB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Cataloging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6A26933-D991-8691-A2F6-CB905450D1A0}"/>
              </a:ext>
            </a:extLst>
          </p:cNvPr>
          <p:cNvSpPr/>
          <p:nvPr/>
        </p:nvSpPr>
        <p:spPr>
          <a:xfrm>
            <a:off x="4504586" y="713607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D. Contract Negotiation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E164F0-8D7B-1D00-0C85-687718617829}"/>
              </a:ext>
            </a:extLst>
          </p:cNvPr>
          <p:cNvSpPr txBox="1"/>
          <p:nvPr/>
        </p:nvSpPr>
        <p:spPr>
          <a:xfrm>
            <a:off x="3251626" y="946747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Catalog offers trigger contract negotiation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BD6539F-A1EA-B838-BD7C-0DF229E13BDE}"/>
              </a:ext>
            </a:extLst>
          </p:cNvPr>
          <p:cNvCxnSpPr>
            <a:stCxn id="41" idx="3"/>
            <a:endCxn id="49" idx="1"/>
          </p:cNvCxnSpPr>
          <p:nvPr/>
        </p:nvCxnSpPr>
        <p:spPr>
          <a:xfrm>
            <a:off x="2902637" y="1284008"/>
            <a:ext cx="1601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B5E44CD-8F26-A99F-E377-2F5825E40E7A}"/>
              </a:ext>
            </a:extLst>
          </p:cNvPr>
          <p:cNvSpPr/>
          <p:nvPr/>
        </p:nvSpPr>
        <p:spPr>
          <a:xfrm>
            <a:off x="4504586" y="3038337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E. Data Transfer (Control Plane &amp; Policy Enforcement)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A9B3FFC-353E-9A38-AAED-9B42459695D7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982196" y="1298380"/>
            <a:ext cx="1602525" cy="1873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2053CE-2C4E-19EA-95E8-A2F0A04957C3}"/>
              </a:ext>
            </a:extLst>
          </p:cNvPr>
          <p:cNvSpPr txBox="1"/>
          <p:nvPr/>
        </p:nvSpPr>
        <p:spPr>
          <a:xfrm>
            <a:off x="3496647" y="3314377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Supports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2D3F1F-75A9-5FAC-D9B0-3294E2F3114F}"/>
              </a:ext>
            </a:extLst>
          </p:cNvPr>
          <p:cNvCxnSpPr>
            <a:cxnSpLocks/>
            <a:stCxn id="2" idx="3"/>
            <a:endCxn id="57" idx="1"/>
          </p:cNvCxnSpPr>
          <p:nvPr/>
        </p:nvCxnSpPr>
        <p:spPr>
          <a:xfrm>
            <a:off x="2904974" y="3604632"/>
            <a:ext cx="1599612" cy="4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78452B-DAE8-5AF0-2FEC-BEBC7BACCC98}"/>
              </a:ext>
            </a:extLst>
          </p:cNvPr>
          <p:cNvSpPr/>
          <p:nvPr/>
        </p:nvSpPr>
        <p:spPr>
          <a:xfrm>
            <a:off x="8555833" y="2092823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G. Observability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22E6D7-25C8-BD80-64BB-2A3A64248327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6982196" y="2663224"/>
            <a:ext cx="1573637" cy="762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2045975-552B-C283-6789-9AC39DD39A67}"/>
              </a:ext>
            </a:extLst>
          </p:cNvPr>
          <p:cNvSpPr/>
          <p:nvPr/>
        </p:nvSpPr>
        <p:spPr>
          <a:xfrm>
            <a:off x="8584721" y="831993"/>
            <a:ext cx="2477610" cy="932773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F. Data Transfer (Data Plane)</a:t>
            </a:r>
            <a:b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A3A21E7-08B2-D347-9A76-E488E4E88262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5743391" y="1854409"/>
            <a:ext cx="0" cy="118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AA46E84-184E-F340-972B-1B97BC3CCB38}"/>
              </a:ext>
            </a:extLst>
          </p:cNvPr>
          <p:cNvSpPr txBox="1"/>
          <p:nvPr/>
        </p:nvSpPr>
        <p:spPr>
          <a:xfrm>
            <a:off x="4590941" y="2332782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Agreed contracts authorize orchestration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3DDA4C7-619B-4EE4-245B-C9F2C0BD83B7}"/>
              </a:ext>
            </a:extLst>
          </p:cNvPr>
          <p:cNvCxnSpPr>
            <a:cxnSpLocks/>
            <a:stCxn id="2" idx="0"/>
            <a:endCxn id="41" idx="2"/>
          </p:cNvCxnSpPr>
          <p:nvPr/>
        </p:nvCxnSpPr>
        <p:spPr>
          <a:xfrm flipH="1" flipV="1">
            <a:off x="1663832" y="1854409"/>
            <a:ext cx="2337" cy="117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8" name="Rectangle: Rounded Corners 22537">
            <a:extLst>
              <a:ext uri="{FF2B5EF4-FFF2-40B4-BE49-F238E27FC236}">
                <a16:creationId xmlns:a16="http://schemas.microsoft.com/office/drawing/2014/main" id="{9A20A3CB-7D21-FBC6-E217-B9E66DCAE759}"/>
              </a:ext>
            </a:extLst>
          </p:cNvPr>
          <p:cNvSpPr/>
          <p:nvPr/>
        </p:nvSpPr>
        <p:spPr>
          <a:xfrm>
            <a:off x="8555833" y="3636240"/>
            <a:ext cx="2477610" cy="1140802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H. Optional Services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539" name="Straight Arrow Connector 22538">
            <a:extLst>
              <a:ext uri="{FF2B5EF4-FFF2-40B4-BE49-F238E27FC236}">
                <a16:creationId xmlns:a16="http://schemas.microsoft.com/office/drawing/2014/main" id="{86104534-29B5-E496-2C54-6E512599DA3F}"/>
              </a:ext>
            </a:extLst>
          </p:cNvPr>
          <p:cNvCxnSpPr>
            <a:cxnSpLocks/>
            <a:endCxn id="22538" idx="1"/>
          </p:cNvCxnSpPr>
          <p:nvPr/>
        </p:nvCxnSpPr>
        <p:spPr>
          <a:xfrm>
            <a:off x="6973234" y="3846805"/>
            <a:ext cx="1582599" cy="359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2542">
            <a:extLst>
              <a:ext uri="{FF2B5EF4-FFF2-40B4-BE49-F238E27FC236}">
                <a16:creationId xmlns:a16="http://schemas.microsoft.com/office/drawing/2014/main" id="{7F89FC31-B125-BC6B-9CD2-BD175A432961}"/>
              </a:ext>
            </a:extLst>
          </p:cNvPr>
          <p:cNvSpPr txBox="1"/>
          <p:nvPr/>
        </p:nvSpPr>
        <p:spPr>
          <a:xfrm>
            <a:off x="7462556" y="3818831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Provides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inputs for</a:t>
            </a:r>
          </a:p>
        </p:txBody>
      </p:sp>
      <p:sp>
        <p:nvSpPr>
          <p:cNvPr id="22546" name="Rectangle: Rounded Corners 22545">
            <a:extLst>
              <a:ext uri="{FF2B5EF4-FFF2-40B4-BE49-F238E27FC236}">
                <a16:creationId xmlns:a16="http://schemas.microsoft.com/office/drawing/2014/main" id="{91A62719-9FED-175A-E920-577273B7F3B2}"/>
              </a:ext>
            </a:extLst>
          </p:cNvPr>
          <p:cNvSpPr/>
          <p:nvPr/>
        </p:nvSpPr>
        <p:spPr>
          <a:xfrm>
            <a:off x="76038" y="549061"/>
            <a:ext cx="11963400" cy="4288384"/>
          </a:xfrm>
          <a:prstGeom prst="round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547" name="Straight Arrow Connector 22546">
            <a:extLst>
              <a:ext uri="{FF2B5EF4-FFF2-40B4-BE49-F238E27FC236}">
                <a16:creationId xmlns:a16="http://schemas.microsoft.com/office/drawing/2014/main" id="{3F64C8C8-FFC4-E58B-4752-020A22083402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5734429" y="4855509"/>
            <a:ext cx="0" cy="42989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99D929-6FE0-8B3E-C854-4407D91D6A26}"/>
              </a:ext>
            </a:extLst>
          </p:cNvPr>
          <p:cNvSpPr/>
          <p:nvPr/>
        </p:nvSpPr>
        <p:spPr>
          <a:xfrm>
            <a:off x="232313" y="5149528"/>
            <a:ext cx="11727373" cy="1131976"/>
          </a:xfrm>
          <a:prstGeom prst="round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22860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A62BA-F539-75B4-181C-CA78E11CE3D5}"/>
              </a:ext>
            </a:extLst>
          </p:cNvPr>
          <p:cNvSpPr txBox="1"/>
          <p:nvPr/>
        </p:nvSpPr>
        <p:spPr>
          <a:xfrm rot="16200000">
            <a:off x="11151871" y="2571079"/>
            <a:ext cx="853299" cy="3839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Participant Actions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655E7B-627D-B4E2-C1A1-BC6B1FDC0161}"/>
              </a:ext>
            </a:extLst>
          </p:cNvPr>
          <p:cNvSpPr txBox="1"/>
          <p:nvPr/>
        </p:nvSpPr>
        <p:spPr>
          <a:xfrm rot="16200000">
            <a:off x="11180757" y="5298396"/>
            <a:ext cx="807702" cy="435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DSGA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Actions</a:t>
            </a:r>
          </a:p>
        </p:txBody>
      </p:sp>
      <p:grpSp>
        <p:nvGrpSpPr>
          <p:cNvPr id="10" name="Gruppieren 10">
            <a:extLst>
              <a:ext uri="{FF2B5EF4-FFF2-40B4-BE49-F238E27FC236}">
                <a16:creationId xmlns:a16="http://schemas.microsoft.com/office/drawing/2014/main" id="{609A2552-AD0C-BC21-2664-7B0D1123BE59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11534674" y="5865982"/>
            <a:ext cx="188392" cy="430570"/>
            <a:chOff x="1474539" y="4910386"/>
            <a:chExt cx="738000" cy="1531864"/>
          </a:xfrm>
        </p:grpSpPr>
        <p:sp>
          <p:nvSpPr>
            <p:cNvPr id="11" name="Ellipse 11">
              <a:extLst>
                <a:ext uri="{FF2B5EF4-FFF2-40B4-BE49-F238E27FC236}">
                  <a16:creationId xmlns:a16="http://schemas.microsoft.com/office/drawing/2014/main" id="{73F51ADE-C11A-2DBD-CAC4-90194AD47592}"/>
                </a:ext>
              </a:extLst>
            </p:cNvPr>
            <p:cNvSpPr/>
            <p:nvPr/>
          </p:nvSpPr>
          <p:spPr>
            <a:xfrm>
              <a:off x="1617562" y="4910386"/>
              <a:ext cx="451953" cy="449537"/>
            </a:xfrm>
            <a:prstGeom prst="ellipse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Bogen 12">
              <a:extLst>
                <a:ext uri="{FF2B5EF4-FFF2-40B4-BE49-F238E27FC236}">
                  <a16:creationId xmlns:a16="http://schemas.microsoft.com/office/drawing/2014/main" id="{BC9921EA-C167-1FF4-7A1D-0E329BC7D339}"/>
                </a:ext>
              </a:extLst>
            </p:cNvPr>
            <p:cNvSpPr/>
            <p:nvPr/>
          </p:nvSpPr>
          <p:spPr>
            <a:xfrm>
              <a:off x="1483121" y="5451549"/>
              <a:ext cx="720837" cy="990701"/>
            </a:xfrm>
            <a:prstGeom prst="arc">
              <a:avLst>
                <a:gd name="adj1" fmla="val 10701574"/>
                <a:gd name="adj2" fmla="val 136483"/>
              </a:avLst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15" name="Gerade Verbindung mit Pfeil 13">
              <a:extLst>
                <a:ext uri="{FF2B5EF4-FFF2-40B4-BE49-F238E27FC236}">
                  <a16:creationId xmlns:a16="http://schemas.microsoft.com/office/drawing/2014/main" id="{F1F7502F-5664-1FCD-82D3-AB001673D765}"/>
                </a:ext>
              </a:extLst>
            </p:cNvPr>
            <p:cNvCxnSpPr>
              <a:cxnSpLocks/>
            </p:cNvCxnSpPr>
            <p:nvPr/>
          </p:nvCxnSpPr>
          <p:spPr>
            <a:xfrm>
              <a:off x="1474539" y="5949763"/>
              <a:ext cx="738000" cy="0"/>
            </a:xfrm>
            <a:prstGeom prst="straightConnector1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6" name="Gruppieren 10">
            <a:extLst>
              <a:ext uri="{FF2B5EF4-FFF2-40B4-BE49-F238E27FC236}">
                <a16:creationId xmlns:a16="http://schemas.microsoft.com/office/drawing/2014/main" id="{5C8943E4-69A6-1629-1E7D-F433215FEBD4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11534674" y="3193288"/>
            <a:ext cx="188392" cy="430570"/>
            <a:chOff x="1474539" y="4910386"/>
            <a:chExt cx="738000" cy="1531864"/>
          </a:xfrm>
        </p:grpSpPr>
        <p:sp>
          <p:nvSpPr>
            <p:cNvPr id="17" name="Ellipse 11">
              <a:extLst>
                <a:ext uri="{FF2B5EF4-FFF2-40B4-BE49-F238E27FC236}">
                  <a16:creationId xmlns:a16="http://schemas.microsoft.com/office/drawing/2014/main" id="{484A4C38-52EE-523B-5222-56E1AB9FDF0D}"/>
                </a:ext>
              </a:extLst>
            </p:cNvPr>
            <p:cNvSpPr/>
            <p:nvPr/>
          </p:nvSpPr>
          <p:spPr>
            <a:xfrm>
              <a:off x="1617562" y="4910386"/>
              <a:ext cx="451953" cy="449537"/>
            </a:xfrm>
            <a:prstGeom prst="ellipse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8" name="Bogen 12">
              <a:extLst>
                <a:ext uri="{FF2B5EF4-FFF2-40B4-BE49-F238E27FC236}">
                  <a16:creationId xmlns:a16="http://schemas.microsoft.com/office/drawing/2014/main" id="{C999571F-85B0-C495-D7D9-94C16FF8094C}"/>
                </a:ext>
              </a:extLst>
            </p:cNvPr>
            <p:cNvSpPr/>
            <p:nvPr/>
          </p:nvSpPr>
          <p:spPr>
            <a:xfrm>
              <a:off x="1483121" y="5451549"/>
              <a:ext cx="720837" cy="990701"/>
            </a:xfrm>
            <a:prstGeom prst="arc">
              <a:avLst>
                <a:gd name="adj1" fmla="val 10701574"/>
                <a:gd name="adj2" fmla="val 136483"/>
              </a:avLst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19" name="Gerade Verbindung mit Pfeil 13">
              <a:extLst>
                <a:ext uri="{FF2B5EF4-FFF2-40B4-BE49-F238E27FC236}">
                  <a16:creationId xmlns:a16="http://schemas.microsoft.com/office/drawing/2014/main" id="{7C17E0E2-D22F-8744-F2CC-CCC3F01683F2}"/>
                </a:ext>
              </a:extLst>
            </p:cNvPr>
            <p:cNvCxnSpPr>
              <a:cxnSpLocks/>
            </p:cNvCxnSpPr>
            <p:nvPr/>
          </p:nvCxnSpPr>
          <p:spPr>
            <a:xfrm>
              <a:off x="1474539" y="5949763"/>
              <a:ext cx="738000" cy="0"/>
            </a:xfrm>
            <a:prstGeom prst="straightConnector1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E48D644-3A08-C93A-F40F-025CA0873619}"/>
              </a:ext>
            </a:extLst>
          </p:cNvPr>
          <p:cNvSpPr txBox="1"/>
          <p:nvPr/>
        </p:nvSpPr>
        <p:spPr>
          <a:xfrm>
            <a:off x="728500" y="2353668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Trust enables controlled discovery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D18B7-918E-3F8B-527D-251ABC1830BF}"/>
              </a:ext>
            </a:extLst>
          </p:cNvPr>
          <p:cNvSpPr txBox="1"/>
          <p:nvPr/>
        </p:nvSpPr>
        <p:spPr>
          <a:xfrm>
            <a:off x="7129644" y="1787086"/>
            <a:ext cx="1462712" cy="6965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Control Plane triggers Data Plane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D755B-0953-430F-A73D-385968FDE580}"/>
              </a:ext>
            </a:extLst>
          </p:cNvPr>
          <p:cNvSpPr txBox="1"/>
          <p:nvPr/>
        </p:nvSpPr>
        <p:spPr>
          <a:xfrm>
            <a:off x="7574335" y="2777089"/>
            <a:ext cx="1602525" cy="1729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Orchestration generates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observable events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A5E923-48FA-2548-670E-79B63F5A73B2}"/>
              </a:ext>
            </a:extLst>
          </p:cNvPr>
          <p:cNvSpPr txBox="1"/>
          <p:nvPr/>
        </p:nvSpPr>
        <p:spPr>
          <a:xfrm>
            <a:off x="4166555" y="4918186"/>
            <a:ext cx="3457164" cy="200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DSGA Sets the overall framework for data sharing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3A6AB3-2FB3-5473-A862-A3D23BC43CC6}"/>
              </a:ext>
            </a:extLst>
          </p:cNvPr>
          <p:cNvSpPr/>
          <p:nvPr/>
        </p:nvSpPr>
        <p:spPr>
          <a:xfrm>
            <a:off x="4495624" y="5285399"/>
            <a:ext cx="2477610" cy="887758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A. Data Space Governance Framework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297FBE-C19F-6924-C5D0-75E5A1908D31}"/>
              </a:ext>
            </a:extLst>
          </p:cNvPr>
          <p:cNvSpPr/>
          <p:nvPr/>
        </p:nvSpPr>
        <p:spPr>
          <a:xfrm>
            <a:off x="3195784" y="6484072"/>
            <a:ext cx="570718" cy="30518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E07C1B-597B-DEEF-7751-DAF94850DBDB}"/>
              </a:ext>
            </a:extLst>
          </p:cNvPr>
          <p:cNvSpPr txBox="1"/>
          <p:nvPr/>
        </p:nvSpPr>
        <p:spPr>
          <a:xfrm>
            <a:off x="3897654" y="6564969"/>
            <a:ext cx="3457164" cy="200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IDS-RAM Capability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BFCCA8-D6AF-C61F-38A7-B1D6E6E1E011}"/>
              </a:ext>
            </a:extLst>
          </p:cNvPr>
          <p:cNvSpPr/>
          <p:nvPr/>
        </p:nvSpPr>
        <p:spPr>
          <a:xfrm>
            <a:off x="6652948" y="6484072"/>
            <a:ext cx="570718" cy="305182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AB7FEC-3756-BF71-9062-12DF2811BF7F}"/>
              </a:ext>
            </a:extLst>
          </p:cNvPr>
          <p:cNvSpPr txBox="1"/>
          <p:nvPr/>
        </p:nvSpPr>
        <p:spPr>
          <a:xfrm>
            <a:off x="7354818" y="6484072"/>
            <a:ext cx="3457164" cy="200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Out-of-scope for IDS-RAM, covered in the IDSA Rulebook or other ecosystem resources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29A509-1906-4AFC-4C6C-92714CD43B4E}"/>
              </a:ext>
            </a:extLst>
          </p:cNvPr>
          <p:cNvSpPr txBox="1"/>
          <p:nvPr/>
        </p:nvSpPr>
        <p:spPr>
          <a:xfrm>
            <a:off x="1018218" y="6524520"/>
            <a:ext cx="1599838" cy="2242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egend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10F3BD6-092A-B553-6362-4875FA00AA61}"/>
              </a:ext>
            </a:extLst>
          </p:cNvPr>
          <p:cNvCxnSpPr>
            <a:cxnSpLocks/>
          </p:cNvCxnSpPr>
          <p:nvPr/>
        </p:nvCxnSpPr>
        <p:spPr>
          <a:xfrm>
            <a:off x="25444" y="6432202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C8AA28-C912-29DC-BB97-BF1EC763BF2B}"/>
              </a:ext>
            </a:extLst>
          </p:cNvPr>
          <p:cNvCxnSpPr>
            <a:cxnSpLocks/>
          </p:cNvCxnSpPr>
          <p:nvPr/>
        </p:nvCxnSpPr>
        <p:spPr>
          <a:xfrm>
            <a:off x="9789130" y="3254559"/>
            <a:ext cx="0" cy="402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C1F9A5D-3AFF-EA34-64E7-AA1B9F563B01}"/>
              </a:ext>
            </a:extLst>
          </p:cNvPr>
          <p:cNvSpPr txBox="1"/>
          <p:nvPr/>
        </p:nvSpPr>
        <p:spPr>
          <a:xfrm>
            <a:off x="9147570" y="3285494"/>
            <a:ext cx="913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enables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804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E49F-E010-5EC0-2188-E5D3F252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2">
            <a:extLst>
              <a:ext uri="{FF2B5EF4-FFF2-40B4-BE49-F238E27FC236}">
                <a16:creationId xmlns:a16="http://schemas.microsoft.com/office/drawing/2014/main" id="{C7B674DE-F3E5-9A18-9837-D38CEF9C1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5027" y="61105"/>
            <a:ext cx="9407384" cy="415600"/>
          </a:xfrm>
        </p:spPr>
        <p:txBody>
          <a:bodyPr/>
          <a:lstStyle/>
          <a:p>
            <a:r>
              <a:rPr lang="en-US" altLang="en-US" sz="2800"/>
              <a:t>Mapping to specifications</a:t>
            </a:r>
            <a:endParaRPr lang="en-US" altLang="en-US" sz="32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9EFE25-8202-1F22-D4A6-F654736F7DD3}"/>
              </a:ext>
            </a:extLst>
          </p:cNvPr>
          <p:cNvSpPr/>
          <p:nvPr/>
        </p:nvSpPr>
        <p:spPr>
          <a:xfrm>
            <a:off x="427364" y="3055291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B. Credentials &amp;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Decentralized Claims Protocol (DCP)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rights profile (DRP)? TCKs?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b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US" sz="105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128A1A1-7902-B082-519F-F8ABDC6B9BE0}"/>
              </a:ext>
            </a:extLst>
          </p:cNvPr>
          <p:cNvSpPr/>
          <p:nvPr/>
        </p:nvSpPr>
        <p:spPr>
          <a:xfrm>
            <a:off x="425027" y="734667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C. </a:t>
            </a:r>
            <a:r>
              <a:rPr kumimoji="0" lang="en-GB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Cataloging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DSP: Catalog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DCAT-AP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CD3C826-03DA-B58F-395C-59948ED05DCD}"/>
              </a:ext>
            </a:extLst>
          </p:cNvPr>
          <p:cNvSpPr/>
          <p:nvPr/>
        </p:nvSpPr>
        <p:spPr>
          <a:xfrm>
            <a:off x="4504586" y="734667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D. Contract Negotiation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DSP: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Contract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de-DE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Negotiation</a:t>
            </a:r>
            <a:endParaRPr kumimoji="0" lang="de-DE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JSON-schema and ODRL</a:t>
            </a: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DB8306-9EA3-37AD-849B-A8661BA01C00}"/>
              </a:ext>
            </a:extLst>
          </p:cNvPr>
          <p:cNvSpPr txBox="1"/>
          <p:nvPr/>
        </p:nvSpPr>
        <p:spPr>
          <a:xfrm>
            <a:off x="3251626" y="967807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Catalog offers trigger contract negotiation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274DE38-2026-B08D-24B5-3B00945C25BF}"/>
              </a:ext>
            </a:extLst>
          </p:cNvPr>
          <p:cNvCxnSpPr>
            <a:stCxn id="41" idx="3"/>
            <a:endCxn id="49" idx="1"/>
          </p:cNvCxnSpPr>
          <p:nvPr/>
        </p:nvCxnSpPr>
        <p:spPr>
          <a:xfrm>
            <a:off x="2902637" y="1305068"/>
            <a:ext cx="1601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A1AF7D7-4766-A6A3-5290-6116D29E9665}"/>
              </a:ext>
            </a:extLst>
          </p:cNvPr>
          <p:cNvSpPr/>
          <p:nvPr/>
        </p:nvSpPr>
        <p:spPr>
          <a:xfrm>
            <a:off x="4504586" y="3059397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E. Data Transfer (Control Plane &amp; Policy Enforcement)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DSP: Transfer Process: Control Plane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Plane </a:t>
            </a: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Signaling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Policy enforcement/usage control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74BECF0-6CB6-9176-F2AD-EF8329E26B82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982196" y="1319440"/>
            <a:ext cx="1602525" cy="1873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BAE911-F89F-4907-E4BA-92FCAD772BA0}"/>
              </a:ext>
            </a:extLst>
          </p:cNvPr>
          <p:cNvSpPr txBox="1"/>
          <p:nvPr/>
        </p:nvSpPr>
        <p:spPr>
          <a:xfrm>
            <a:off x="3496647" y="3335437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Supports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311770-52B6-1194-2301-5D0DB63BFB1A}"/>
              </a:ext>
            </a:extLst>
          </p:cNvPr>
          <p:cNvCxnSpPr>
            <a:cxnSpLocks/>
            <a:stCxn id="2" idx="3"/>
            <a:endCxn id="57" idx="1"/>
          </p:cNvCxnSpPr>
          <p:nvPr/>
        </p:nvCxnSpPr>
        <p:spPr>
          <a:xfrm>
            <a:off x="2904974" y="3625692"/>
            <a:ext cx="1599612" cy="4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02944F7-BE68-F6EC-49B9-0612C20560B8}"/>
              </a:ext>
            </a:extLst>
          </p:cNvPr>
          <p:cNvSpPr/>
          <p:nvPr/>
        </p:nvSpPr>
        <p:spPr>
          <a:xfrm>
            <a:off x="8555833" y="2113883"/>
            <a:ext cx="2477610" cy="114080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G. Observability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Observing states of DSP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B0D773-A4D5-7F32-616A-424DDA2CDEAC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6982196" y="2684284"/>
            <a:ext cx="1573637" cy="762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E0EA16-DE56-47B6-43CD-CDC87B46E078}"/>
              </a:ext>
            </a:extLst>
          </p:cNvPr>
          <p:cNvSpPr/>
          <p:nvPr/>
        </p:nvSpPr>
        <p:spPr>
          <a:xfrm>
            <a:off x="8584721" y="853053"/>
            <a:ext cx="2477610" cy="932773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F. Data Transfer (Data Plane)</a:t>
            </a:r>
            <a:b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DSP: Transfer Process: Data Plane</a:t>
            </a:r>
            <a:b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Plane 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Bindings to wire protocols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ED32311-4321-4A4C-DF0E-65535DEB5B60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5743391" y="1875469"/>
            <a:ext cx="0" cy="118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3B35F4F-449F-3776-9845-5D78BC9C3366}"/>
              </a:ext>
            </a:extLst>
          </p:cNvPr>
          <p:cNvSpPr txBox="1"/>
          <p:nvPr/>
        </p:nvSpPr>
        <p:spPr>
          <a:xfrm>
            <a:off x="4590941" y="2353842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Agreed contracts authorize orchestration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16C03A2-6E0F-6A47-3A78-49DA0F7245A2}"/>
              </a:ext>
            </a:extLst>
          </p:cNvPr>
          <p:cNvCxnSpPr>
            <a:cxnSpLocks/>
            <a:stCxn id="2" idx="0"/>
            <a:endCxn id="41" idx="2"/>
          </p:cNvCxnSpPr>
          <p:nvPr/>
        </p:nvCxnSpPr>
        <p:spPr>
          <a:xfrm flipH="1" flipV="1">
            <a:off x="1663832" y="1875469"/>
            <a:ext cx="2337" cy="117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8" name="Rectangle: Rounded Corners 22537">
            <a:extLst>
              <a:ext uri="{FF2B5EF4-FFF2-40B4-BE49-F238E27FC236}">
                <a16:creationId xmlns:a16="http://schemas.microsoft.com/office/drawing/2014/main" id="{C6E11FC5-84B8-8C09-49B8-BF2100C9C4A4}"/>
              </a:ext>
            </a:extLst>
          </p:cNvPr>
          <p:cNvSpPr/>
          <p:nvPr/>
        </p:nvSpPr>
        <p:spPr>
          <a:xfrm>
            <a:off x="8555833" y="3657300"/>
            <a:ext cx="2477610" cy="1140802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H. Optional Services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539" name="Straight Arrow Connector 22538">
            <a:extLst>
              <a:ext uri="{FF2B5EF4-FFF2-40B4-BE49-F238E27FC236}">
                <a16:creationId xmlns:a16="http://schemas.microsoft.com/office/drawing/2014/main" id="{BB4BC049-6EFC-C480-4F4F-E99C57F2AE31}"/>
              </a:ext>
            </a:extLst>
          </p:cNvPr>
          <p:cNvCxnSpPr>
            <a:cxnSpLocks/>
            <a:endCxn id="22538" idx="1"/>
          </p:cNvCxnSpPr>
          <p:nvPr/>
        </p:nvCxnSpPr>
        <p:spPr>
          <a:xfrm>
            <a:off x="6973234" y="3867865"/>
            <a:ext cx="1582599" cy="359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2542">
            <a:extLst>
              <a:ext uri="{FF2B5EF4-FFF2-40B4-BE49-F238E27FC236}">
                <a16:creationId xmlns:a16="http://schemas.microsoft.com/office/drawing/2014/main" id="{9A9EE957-0CB3-B26A-78CD-00E3A9FC7761}"/>
              </a:ext>
            </a:extLst>
          </p:cNvPr>
          <p:cNvSpPr txBox="1"/>
          <p:nvPr/>
        </p:nvSpPr>
        <p:spPr>
          <a:xfrm>
            <a:off x="7462556" y="3839891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Provides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inputs for</a:t>
            </a:r>
          </a:p>
        </p:txBody>
      </p:sp>
      <p:sp>
        <p:nvSpPr>
          <p:cNvPr id="22536" name="Freeform: Shape 22535">
            <a:extLst>
              <a:ext uri="{FF2B5EF4-FFF2-40B4-BE49-F238E27FC236}">
                <a16:creationId xmlns:a16="http://schemas.microsoft.com/office/drawing/2014/main" id="{F8046982-4CDF-1344-E7E3-042C28AB651B}"/>
              </a:ext>
            </a:extLst>
          </p:cNvPr>
          <p:cNvSpPr/>
          <p:nvPr/>
        </p:nvSpPr>
        <p:spPr>
          <a:xfrm>
            <a:off x="928088" y="4631334"/>
            <a:ext cx="7640053" cy="974558"/>
          </a:xfrm>
          <a:custGeom>
            <a:avLst/>
            <a:gdLst>
              <a:gd name="csX0" fmla="*/ 0 w 7640053"/>
              <a:gd name="csY0" fmla="*/ 0 h 974558"/>
              <a:gd name="csX1" fmla="*/ 60158 w 7640053"/>
              <a:gd name="csY1" fmla="*/ 24063 h 974558"/>
              <a:gd name="csX2" fmla="*/ 228600 w 7640053"/>
              <a:gd name="csY2" fmla="*/ 204536 h 974558"/>
              <a:gd name="csX3" fmla="*/ 409074 w 7640053"/>
              <a:gd name="csY3" fmla="*/ 288758 h 974558"/>
              <a:gd name="csX4" fmla="*/ 589547 w 7640053"/>
              <a:gd name="csY4" fmla="*/ 360947 h 974558"/>
              <a:gd name="csX5" fmla="*/ 1010653 w 7640053"/>
              <a:gd name="csY5" fmla="*/ 541421 h 974558"/>
              <a:gd name="csX6" fmla="*/ 1335505 w 7640053"/>
              <a:gd name="csY6" fmla="*/ 637673 h 974558"/>
              <a:gd name="csX7" fmla="*/ 2201779 w 7640053"/>
              <a:gd name="csY7" fmla="*/ 890336 h 974558"/>
              <a:gd name="csX8" fmla="*/ 2731168 w 7640053"/>
              <a:gd name="csY8" fmla="*/ 974558 h 974558"/>
              <a:gd name="csX9" fmla="*/ 3296653 w 7640053"/>
              <a:gd name="csY9" fmla="*/ 926431 h 974558"/>
              <a:gd name="csX10" fmla="*/ 3874168 w 7640053"/>
              <a:gd name="csY10" fmla="*/ 661736 h 974558"/>
              <a:gd name="csX11" fmla="*/ 4211053 w 7640053"/>
              <a:gd name="csY11" fmla="*/ 613610 h 974558"/>
              <a:gd name="csX12" fmla="*/ 4872790 w 7640053"/>
              <a:gd name="csY12" fmla="*/ 637673 h 974558"/>
              <a:gd name="csX13" fmla="*/ 5017168 w 7640053"/>
              <a:gd name="csY13" fmla="*/ 661736 h 974558"/>
              <a:gd name="csX14" fmla="*/ 5558590 w 7640053"/>
              <a:gd name="csY14" fmla="*/ 709863 h 974558"/>
              <a:gd name="csX15" fmla="*/ 5702968 w 7640053"/>
              <a:gd name="csY15" fmla="*/ 685800 h 974558"/>
              <a:gd name="csX16" fmla="*/ 5811253 w 7640053"/>
              <a:gd name="csY16" fmla="*/ 625642 h 974558"/>
              <a:gd name="csX17" fmla="*/ 6316579 w 7640053"/>
              <a:gd name="csY17" fmla="*/ 637673 h 974558"/>
              <a:gd name="csX18" fmla="*/ 6352674 w 7640053"/>
              <a:gd name="csY18" fmla="*/ 661736 h 974558"/>
              <a:gd name="csX19" fmla="*/ 6569242 w 7640053"/>
              <a:gd name="csY19" fmla="*/ 709863 h 974558"/>
              <a:gd name="csX20" fmla="*/ 6942221 w 7640053"/>
              <a:gd name="csY20" fmla="*/ 685800 h 974558"/>
              <a:gd name="csX21" fmla="*/ 7014411 w 7640053"/>
              <a:gd name="csY21" fmla="*/ 673768 h 974558"/>
              <a:gd name="csX22" fmla="*/ 7110663 w 7640053"/>
              <a:gd name="csY22" fmla="*/ 637673 h 974558"/>
              <a:gd name="csX23" fmla="*/ 7182853 w 7640053"/>
              <a:gd name="csY23" fmla="*/ 565484 h 974558"/>
              <a:gd name="csX24" fmla="*/ 7255042 w 7640053"/>
              <a:gd name="csY24" fmla="*/ 481263 h 974558"/>
              <a:gd name="csX25" fmla="*/ 7267074 w 7640053"/>
              <a:gd name="csY25" fmla="*/ 517358 h 974558"/>
              <a:gd name="csX26" fmla="*/ 7387390 w 7640053"/>
              <a:gd name="csY26" fmla="*/ 697831 h 974558"/>
              <a:gd name="csX27" fmla="*/ 7435516 w 7640053"/>
              <a:gd name="csY27" fmla="*/ 709863 h 974558"/>
              <a:gd name="csX28" fmla="*/ 7543800 w 7640053"/>
              <a:gd name="csY28" fmla="*/ 782052 h 974558"/>
              <a:gd name="csX29" fmla="*/ 7591926 w 7640053"/>
              <a:gd name="csY29" fmla="*/ 770021 h 974558"/>
              <a:gd name="csX30" fmla="*/ 7640053 w 7640053"/>
              <a:gd name="csY30" fmla="*/ 697831 h 974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7640053" h="974558">
                <a:moveTo>
                  <a:pt x="0" y="0"/>
                </a:moveTo>
                <a:cubicBezTo>
                  <a:pt x="20053" y="8021"/>
                  <a:pt x="43566" y="10237"/>
                  <a:pt x="60158" y="24063"/>
                </a:cubicBezTo>
                <a:cubicBezTo>
                  <a:pt x="261326" y="191702"/>
                  <a:pt x="29671" y="51514"/>
                  <a:pt x="228600" y="204536"/>
                </a:cubicBezTo>
                <a:cubicBezTo>
                  <a:pt x="246882" y="218599"/>
                  <a:pt x="407221" y="287986"/>
                  <a:pt x="409074" y="288758"/>
                </a:cubicBezTo>
                <a:cubicBezTo>
                  <a:pt x="468882" y="313678"/>
                  <a:pt x="530097" y="335185"/>
                  <a:pt x="589547" y="360947"/>
                </a:cubicBezTo>
                <a:cubicBezTo>
                  <a:pt x="792197" y="448762"/>
                  <a:pt x="781399" y="463377"/>
                  <a:pt x="1010653" y="541421"/>
                </a:cubicBezTo>
                <a:cubicBezTo>
                  <a:pt x="1117565" y="577817"/>
                  <a:pt x="1227837" y="603578"/>
                  <a:pt x="1335505" y="637673"/>
                </a:cubicBezTo>
                <a:cubicBezTo>
                  <a:pt x="1726887" y="761611"/>
                  <a:pt x="1781265" y="804207"/>
                  <a:pt x="2201779" y="890336"/>
                </a:cubicBezTo>
                <a:cubicBezTo>
                  <a:pt x="2376827" y="926189"/>
                  <a:pt x="2554705" y="946484"/>
                  <a:pt x="2731168" y="974558"/>
                </a:cubicBezTo>
                <a:cubicBezTo>
                  <a:pt x="2848170" y="970379"/>
                  <a:pt x="3160948" y="972769"/>
                  <a:pt x="3296653" y="926431"/>
                </a:cubicBezTo>
                <a:cubicBezTo>
                  <a:pt x="3771209" y="764387"/>
                  <a:pt x="3345858" y="808489"/>
                  <a:pt x="3874168" y="661736"/>
                </a:cubicBezTo>
                <a:cubicBezTo>
                  <a:pt x="3983465" y="631376"/>
                  <a:pt x="4098758" y="629652"/>
                  <a:pt x="4211053" y="613610"/>
                </a:cubicBezTo>
                <a:cubicBezTo>
                  <a:pt x="4431632" y="621631"/>
                  <a:pt x="4652458" y="624519"/>
                  <a:pt x="4872790" y="637673"/>
                </a:cubicBezTo>
                <a:cubicBezTo>
                  <a:pt x="4921493" y="640581"/>
                  <a:pt x="4968842" y="655024"/>
                  <a:pt x="5017168" y="661736"/>
                </a:cubicBezTo>
                <a:cubicBezTo>
                  <a:pt x="5332919" y="705591"/>
                  <a:pt x="5258295" y="695563"/>
                  <a:pt x="5558590" y="709863"/>
                </a:cubicBezTo>
                <a:cubicBezTo>
                  <a:pt x="5606716" y="701842"/>
                  <a:pt x="5656682" y="701229"/>
                  <a:pt x="5702968" y="685800"/>
                </a:cubicBezTo>
                <a:cubicBezTo>
                  <a:pt x="5742140" y="672743"/>
                  <a:pt x="5770088" y="628871"/>
                  <a:pt x="5811253" y="625642"/>
                </a:cubicBezTo>
                <a:cubicBezTo>
                  <a:pt x="5979227" y="612467"/>
                  <a:pt x="6148137" y="633663"/>
                  <a:pt x="6316579" y="637673"/>
                </a:cubicBezTo>
                <a:cubicBezTo>
                  <a:pt x="6328611" y="645694"/>
                  <a:pt x="6339740" y="655269"/>
                  <a:pt x="6352674" y="661736"/>
                </a:cubicBezTo>
                <a:cubicBezTo>
                  <a:pt x="6430284" y="700541"/>
                  <a:pt x="6468482" y="694362"/>
                  <a:pt x="6569242" y="709863"/>
                </a:cubicBezTo>
                <a:lnTo>
                  <a:pt x="6942221" y="685800"/>
                </a:lnTo>
                <a:cubicBezTo>
                  <a:pt x="6966536" y="683828"/>
                  <a:pt x="6990954" y="680470"/>
                  <a:pt x="7014411" y="673768"/>
                </a:cubicBezTo>
                <a:cubicBezTo>
                  <a:pt x="7047358" y="664354"/>
                  <a:pt x="7078579" y="649705"/>
                  <a:pt x="7110663" y="637673"/>
                </a:cubicBezTo>
                <a:cubicBezTo>
                  <a:pt x="7134726" y="613610"/>
                  <a:pt x="7159771" y="590490"/>
                  <a:pt x="7182853" y="565484"/>
                </a:cubicBezTo>
                <a:cubicBezTo>
                  <a:pt x="7207933" y="538315"/>
                  <a:pt x="7222939" y="499608"/>
                  <a:pt x="7255042" y="481263"/>
                </a:cubicBezTo>
                <a:cubicBezTo>
                  <a:pt x="7266054" y="474971"/>
                  <a:pt x="7263063" y="505326"/>
                  <a:pt x="7267074" y="517358"/>
                </a:cubicBezTo>
                <a:cubicBezTo>
                  <a:pt x="7295284" y="686621"/>
                  <a:pt x="7246497" y="650866"/>
                  <a:pt x="7387390" y="697831"/>
                </a:cubicBezTo>
                <a:cubicBezTo>
                  <a:pt x="7403077" y="703060"/>
                  <a:pt x="7419474" y="705852"/>
                  <a:pt x="7435516" y="709863"/>
                </a:cubicBezTo>
                <a:cubicBezTo>
                  <a:pt x="7471611" y="733926"/>
                  <a:pt x="7503311" y="766479"/>
                  <a:pt x="7543800" y="782052"/>
                </a:cubicBezTo>
                <a:cubicBezTo>
                  <a:pt x="7559233" y="787988"/>
                  <a:pt x="7579482" y="780910"/>
                  <a:pt x="7591926" y="770021"/>
                </a:cubicBezTo>
                <a:cubicBezTo>
                  <a:pt x="7613691" y="750977"/>
                  <a:pt x="7640053" y="697831"/>
                  <a:pt x="7640053" y="697831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546" name="Rectangle: Rounded Corners 22545">
            <a:extLst>
              <a:ext uri="{FF2B5EF4-FFF2-40B4-BE49-F238E27FC236}">
                <a16:creationId xmlns:a16="http://schemas.microsoft.com/office/drawing/2014/main" id="{CACE8892-2621-C12E-830E-FED535DD02B2}"/>
              </a:ext>
            </a:extLst>
          </p:cNvPr>
          <p:cNvSpPr/>
          <p:nvPr/>
        </p:nvSpPr>
        <p:spPr>
          <a:xfrm>
            <a:off x="76038" y="570121"/>
            <a:ext cx="11963400" cy="4227981"/>
          </a:xfrm>
          <a:prstGeom prst="round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547" name="Straight Arrow Connector 22546">
            <a:extLst>
              <a:ext uri="{FF2B5EF4-FFF2-40B4-BE49-F238E27FC236}">
                <a16:creationId xmlns:a16="http://schemas.microsoft.com/office/drawing/2014/main" id="{C095A0B7-D0AC-5AA8-DEB6-56931D31DEE8}"/>
              </a:ext>
            </a:extLst>
          </p:cNvPr>
          <p:cNvCxnSpPr>
            <a:cxnSpLocks/>
          </p:cNvCxnSpPr>
          <p:nvPr/>
        </p:nvCxnSpPr>
        <p:spPr>
          <a:xfrm flipV="1">
            <a:off x="5740079" y="4798102"/>
            <a:ext cx="0" cy="32051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36D94F-4EB1-10B3-DC04-617D1D8AC9B8}"/>
              </a:ext>
            </a:extLst>
          </p:cNvPr>
          <p:cNvSpPr/>
          <p:nvPr/>
        </p:nvSpPr>
        <p:spPr>
          <a:xfrm>
            <a:off x="232313" y="5146524"/>
            <a:ext cx="11727373" cy="1131976"/>
          </a:xfrm>
          <a:prstGeom prst="round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782B6-5473-E696-AA35-E7F14AE6BB58}"/>
              </a:ext>
            </a:extLst>
          </p:cNvPr>
          <p:cNvSpPr txBox="1"/>
          <p:nvPr/>
        </p:nvSpPr>
        <p:spPr>
          <a:xfrm rot="16200000">
            <a:off x="11151871" y="2592139"/>
            <a:ext cx="853299" cy="3839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Participant Actions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FC18F-8731-2C6B-FC11-5281781CC45C}"/>
              </a:ext>
            </a:extLst>
          </p:cNvPr>
          <p:cNvSpPr txBox="1"/>
          <p:nvPr/>
        </p:nvSpPr>
        <p:spPr>
          <a:xfrm rot="16200000">
            <a:off x="11180757" y="5295392"/>
            <a:ext cx="807702" cy="435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DSGA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Actions</a:t>
            </a:r>
          </a:p>
        </p:txBody>
      </p:sp>
      <p:grpSp>
        <p:nvGrpSpPr>
          <p:cNvPr id="10" name="Gruppieren 10">
            <a:extLst>
              <a:ext uri="{FF2B5EF4-FFF2-40B4-BE49-F238E27FC236}">
                <a16:creationId xmlns:a16="http://schemas.microsoft.com/office/drawing/2014/main" id="{402E5ACD-7291-9303-722E-9C6657990BA5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11534674" y="5862978"/>
            <a:ext cx="188392" cy="430570"/>
            <a:chOff x="1474539" y="4910386"/>
            <a:chExt cx="738000" cy="1531864"/>
          </a:xfrm>
        </p:grpSpPr>
        <p:sp>
          <p:nvSpPr>
            <p:cNvPr id="11" name="Ellipse 11">
              <a:extLst>
                <a:ext uri="{FF2B5EF4-FFF2-40B4-BE49-F238E27FC236}">
                  <a16:creationId xmlns:a16="http://schemas.microsoft.com/office/drawing/2014/main" id="{568B5246-5CE8-1B46-59AD-4848728CE096}"/>
                </a:ext>
              </a:extLst>
            </p:cNvPr>
            <p:cNvSpPr/>
            <p:nvPr/>
          </p:nvSpPr>
          <p:spPr>
            <a:xfrm>
              <a:off x="1617562" y="4910386"/>
              <a:ext cx="451953" cy="449537"/>
            </a:xfrm>
            <a:prstGeom prst="ellipse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Bogen 12">
              <a:extLst>
                <a:ext uri="{FF2B5EF4-FFF2-40B4-BE49-F238E27FC236}">
                  <a16:creationId xmlns:a16="http://schemas.microsoft.com/office/drawing/2014/main" id="{D84D1ADB-DEED-F6CB-AE87-1163989D49E2}"/>
                </a:ext>
              </a:extLst>
            </p:cNvPr>
            <p:cNvSpPr/>
            <p:nvPr/>
          </p:nvSpPr>
          <p:spPr>
            <a:xfrm>
              <a:off x="1483121" y="5451549"/>
              <a:ext cx="720837" cy="990701"/>
            </a:xfrm>
            <a:prstGeom prst="arc">
              <a:avLst>
                <a:gd name="adj1" fmla="val 10701574"/>
                <a:gd name="adj2" fmla="val 136483"/>
              </a:avLst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15" name="Gerade Verbindung mit Pfeil 13">
              <a:extLst>
                <a:ext uri="{FF2B5EF4-FFF2-40B4-BE49-F238E27FC236}">
                  <a16:creationId xmlns:a16="http://schemas.microsoft.com/office/drawing/2014/main" id="{F695E181-2038-A321-2302-C3249A586240}"/>
                </a:ext>
              </a:extLst>
            </p:cNvPr>
            <p:cNvCxnSpPr>
              <a:cxnSpLocks/>
            </p:cNvCxnSpPr>
            <p:nvPr/>
          </p:nvCxnSpPr>
          <p:spPr>
            <a:xfrm>
              <a:off x="1474539" y="5949763"/>
              <a:ext cx="738000" cy="0"/>
            </a:xfrm>
            <a:prstGeom prst="straightConnector1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6" name="Gruppieren 10">
            <a:extLst>
              <a:ext uri="{FF2B5EF4-FFF2-40B4-BE49-F238E27FC236}">
                <a16:creationId xmlns:a16="http://schemas.microsoft.com/office/drawing/2014/main" id="{EAD5442A-B7A1-FB7C-779C-BF1B64E1408C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11534674" y="3214348"/>
            <a:ext cx="188392" cy="430570"/>
            <a:chOff x="1474539" y="4910386"/>
            <a:chExt cx="738000" cy="1531864"/>
          </a:xfrm>
        </p:grpSpPr>
        <p:sp>
          <p:nvSpPr>
            <p:cNvPr id="17" name="Ellipse 11">
              <a:extLst>
                <a:ext uri="{FF2B5EF4-FFF2-40B4-BE49-F238E27FC236}">
                  <a16:creationId xmlns:a16="http://schemas.microsoft.com/office/drawing/2014/main" id="{3AD3E510-6B63-D8EE-B12D-3F3D4E2AA034}"/>
                </a:ext>
              </a:extLst>
            </p:cNvPr>
            <p:cNvSpPr/>
            <p:nvPr/>
          </p:nvSpPr>
          <p:spPr>
            <a:xfrm>
              <a:off x="1617562" y="4910386"/>
              <a:ext cx="451953" cy="449537"/>
            </a:xfrm>
            <a:prstGeom prst="ellipse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8" name="Bogen 12">
              <a:extLst>
                <a:ext uri="{FF2B5EF4-FFF2-40B4-BE49-F238E27FC236}">
                  <a16:creationId xmlns:a16="http://schemas.microsoft.com/office/drawing/2014/main" id="{8F804CE3-66F9-E2B3-A3B0-B9529693CD3A}"/>
                </a:ext>
              </a:extLst>
            </p:cNvPr>
            <p:cNvSpPr/>
            <p:nvPr/>
          </p:nvSpPr>
          <p:spPr>
            <a:xfrm>
              <a:off x="1483121" y="5451549"/>
              <a:ext cx="720837" cy="990701"/>
            </a:xfrm>
            <a:prstGeom prst="arc">
              <a:avLst>
                <a:gd name="adj1" fmla="val 10701574"/>
                <a:gd name="adj2" fmla="val 136483"/>
              </a:avLst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19" name="Gerade Verbindung mit Pfeil 13">
              <a:extLst>
                <a:ext uri="{FF2B5EF4-FFF2-40B4-BE49-F238E27FC236}">
                  <a16:creationId xmlns:a16="http://schemas.microsoft.com/office/drawing/2014/main" id="{8F7202B6-02CD-2473-DBEA-E8FC0DE743CE}"/>
                </a:ext>
              </a:extLst>
            </p:cNvPr>
            <p:cNvCxnSpPr>
              <a:cxnSpLocks/>
            </p:cNvCxnSpPr>
            <p:nvPr/>
          </p:nvCxnSpPr>
          <p:spPr>
            <a:xfrm>
              <a:off x="1474539" y="5949763"/>
              <a:ext cx="738000" cy="0"/>
            </a:xfrm>
            <a:prstGeom prst="straightConnector1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F1D4A18-CF6D-1534-DC95-37D2B96A66E0}"/>
              </a:ext>
            </a:extLst>
          </p:cNvPr>
          <p:cNvSpPr txBox="1"/>
          <p:nvPr/>
        </p:nvSpPr>
        <p:spPr>
          <a:xfrm>
            <a:off x="728500" y="2374728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Trust enables controlled discovery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C392E-0181-D226-99D7-0A2A61C98A21}"/>
              </a:ext>
            </a:extLst>
          </p:cNvPr>
          <p:cNvSpPr txBox="1"/>
          <p:nvPr/>
        </p:nvSpPr>
        <p:spPr>
          <a:xfrm>
            <a:off x="7129644" y="1808146"/>
            <a:ext cx="1462712" cy="6965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Control Plane triggers Data Plane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BA5C6-1D18-E541-20B2-F605BCA26A66}"/>
              </a:ext>
            </a:extLst>
          </p:cNvPr>
          <p:cNvSpPr txBox="1"/>
          <p:nvPr/>
        </p:nvSpPr>
        <p:spPr>
          <a:xfrm>
            <a:off x="7574335" y="2798149"/>
            <a:ext cx="1602525" cy="1729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Orchestration generates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observable events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5D4A56-F55D-2BF6-951F-E8963D20E9FF}"/>
              </a:ext>
            </a:extLst>
          </p:cNvPr>
          <p:cNvSpPr txBox="1"/>
          <p:nvPr/>
        </p:nvSpPr>
        <p:spPr>
          <a:xfrm>
            <a:off x="4307369" y="4927908"/>
            <a:ext cx="3457164" cy="200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DSGA Sets the overall framework for data sharing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43D59D-4B3E-570E-B797-749D60915B65}"/>
              </a:ext>
            </a:extLst>
          </p:cNvPr>
          <p:cNvSpPr/>
          <p:nvPr/>
        </p:nvSpPr>
        <p:spPr>
          <a:xfrm>
            <a:off x="4495624" y="5282395"/>
            <a:ext cx="2477610" cy="887758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A. Data Space Governance Framework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4C611D-2972-A9F4-02FC-97746A25C416}"/>
              </a:ext>
            </a:extLst>
          </p:cNvPr>
          <p:cNvSpPr/>
          <p:nvPr/>
        </p:nvSpPr>
        <p:spPr>
          <a:xfrm>
            <a:off x="3195784" y="6484072"/>
            <a:ext cx="570718" cy="305182"/>
          </a:xfrm>
          <a:prstGeom prst="roundRect">
            <a:avLst/>
          </a:prstGeom>
          <a:solidFill>
            <a:schemeClr val="tx2"/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BEA734-3B55-663F-B9AE-2A62E0E39EEE}"/>
              </a:ext>
            </a:extLst>
          </p:cNvPr>
          <p:cNvSpPr txBox="1"/>
          <p:nvPr/>
        </p:nvSpPr>
        <p:spPr>
          <a:xfrm>
            <a:off x="3897654" y="6564969"/>
            <a:ext cx="3457164" cy="200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IDS-RAM Capability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7D1E71-20AD-9F5B-74F1-9BD40A3C8E05}"/>
              </a:ext>
            </a:extLst>
          </p:cNvPr>
          <p:cNvSpPr/>
          <p:nvPr/>
        </p:nvSpPr>
        <p:spPr>
          <a:xfrm>
            <a:off x="6652948" y="6484072"/>
            <a:ext cx="570718" cy="305182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273391-A202-FB77-FA0D-DA682852C296}"/>
              </a:ext>
            </a:extLst>
          </p:cNvPr>
          <p:cNvSpPr txBox="1"/>
          <p:nvPr/>
        </p:nvSpPr>
        <p:spPr>
          <a:xfrm>
            <a:off x="7354818" y="6484072"/>
            <a:ext cx="3457164" cy="200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Out-of-scope for IDS-RAM, covered in the IDSA Rulebook or other ecosystem resources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23012E-564F-1008-D001-5E34480DBDAD}"/>
              </a:ext>
            </a:extLst>
          </p:cNvPr>
          <p:cNvSpPr txBox="1"/>
          <p:nvPr/>
        </p:nvSpPr>
        <p:spPr>
          <a:xfrm>
            <a:off x="1018218" y="6524520"/>
            <a:ext cx="1599838" cy="2242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L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egend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6F6F6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: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8CA396-C7D5-9749-B00C-23529636426B}"/>
              </a:ext>
            </a:extLst>
          </p:cNvPr>
          <p:cNvCxnSpPr>
            <a:cxnSpLocks/>
          </p:cNvCxnSpPr>
          <p:nvPr/>
        </p:nvCxnSpPr>
        <p:spPr>
          <a:xfrm>
            <a:off x="25444" y="6443088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F0909E-4D2C-3977-8284-3B3010F8C0DD}"/>
              </a:ext>
            </a:extLst>
          </p:cNvPr>
          <p:cNvCxnSpPr>
            <a:cxnSpLocks/>
          </p:cNvCxnSpPr>
          <p:nvPr/>
        </p:nvCxnSpPr>
        <p:spPr>
          <a:xfrm>
            <a:off x="9695781" y="3267072"/>
            <a:ext cx="0" cy="402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7E258BE-AB74-3C70-EA97-67D7B32E724F}"/>
              </a:ext>
            </a:extLst>
          </p:cNvPr>
          <p:cNvSpPr txBox="1"/>
          <p:nvPr/>
        </p:nvSpPr>
        <p:spPr>
          <a:xfrm>
            <a:off x="9054221" y="3298007"/>
            <a:ext cx="913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enables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685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EF1C-0A5D-1E73-C660-4C54BFE2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2">
            <a:extLst>
              <a:ext uri="{FF2B5EF4-FFF2-40B4-BE49-F238E27FC236}">
                <a16:creationId xmlns:a16="http://schemas.microsoft.com/office/drawing/2014/main" id="{42095ED3-F4B2-9BAB-416B-D7237129C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60351"/>
            <a:ext cx="10428123" cy="545658"/>
          </a:xfrm>
        </p:spPr>
        <p:txBody>
          <a:bodyPr anchor="t"/>
          <a:lstStyle/>
          <a:p>
            <a:r>
              <a:rPr lang="en-US" altLang="en-US" sz="2800"/>
              <a:t> A pattern language for data spaces – an example</a:t>
            </a:r>
            <a:endParaRPr lang="en-US" altLang="en-US" sz="2800">
              <a:highlight>
                <a:srgbClr val="FFFF00"/>
              </a:highlight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2687F7-95C4-9706-499D-BCB9E2727B53}"/>
              </a:ext>
            </a:extLst>
          </p:cNvPr>
          <p:cNvSpPr/>
          <p:nvPr/>
        </p:nvSpPr>
        <p:spPr>
          <a:xfrm>
            <a:off x="518546" y="3483582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B. Participant identity &amp; trust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Decentralized Participant Identity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Verifiable Claims Exchange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Trust Anchors federation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Self‑Issued Identity Token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Role Based Participation</a:t>
            </a:r>
            <a:endParaRPr kumimoji="0" lang="en-US" sz="11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A83B7EE-4571-C171-C6E5-101B78D4030E}"/>
              </a:ext>
            </a:extLst>
          </p:cNvPr>
          <p:cNvSpPr/>
          <p:nvPr/>
        </p:nvSpPr>
        <p:spPr>
          <a:xfrm>
            <a:off x="516209" y="1162958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C. Discoverability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Controlled Metadata Publication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Policy Filtered Discovery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Offer Pattern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Catalog as Agreement Surface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“Data stays at the source”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BFFC0F-19E9-56DE-D7AB-8D0F1A5F800D}"/>
              </a:ext>
            </a:extLst>
          </p:cNvPr>
          <p:cNvSpPr txBox="1"/>
          <p:nvPr/>
        </p:nvSpPr>
        <p:spPr>
          <a:xfrm>
            <a:off x="638476" y="2516264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Trust enables controlled discovery of data and services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6BB9897-1731-CF02-ADEC-094D2CE5FB88}"/>
              </a:ext>
            </a:extLst>
          </p:cNvPr>
          <p:cNvSpPr/>
          <p:nvPr/>
        </p:nvSpPr>
        <p:spPr>
          <a:xfrm>
            <a:off x="4595768" y="1162958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D. Data Sharing Contract Negotiation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Automated Contract Negotiation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Policy Driven Agreement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Stateful Contract Lifecycle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Asymmetric Negotiation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56A2AC-DA6D-EAF0-F43A-1627709F741A}"/>
              </a:ext>
            </a:extLst>
          </p:cNvPr>
          <p:cNvSpPr txBox="1"/>
          <p:nvPr/>
        </p:nvSpPr>
        <p:spPr>
          <a:xfrm>
            <a:off x="3333440" y="1506177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Catalog offers trigger contract negotiation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C0EEAF3-BFA1-46CD-82E3-8CEB65A276B6}"/>
              </a:ext>
            </a:extLst>
          </p:cNvPr>
          <p:cNvCxnSpPr>
            <a:stCxn id="41" idx="3"/>
            <a:endCxn id="49" idx="1"/>
          </p:cNvCxnSpPr>
          <p:nvPr/>
        </p:nvCxnSpPr>
        <p:spPr>
          <a:xfrm>
            <a:off x="2993819" y="1733359"/>
            <a:ext cx="1601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4F0263D-2889-F78A-70B4-866C1B31DFD9}"/>
              </a:ext>
            </a:extLst>
          </p:cNvPr>
          <p:cNvSpPr/>
          <p:nvPr/>
        </p:nvSpPr>
        <p:spPr>
          <a:xfrm>
            <a:off x="4595768" y="3487688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E. Data Sharing Orchestration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Control Plane / Data Plane Separation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Contract Bound Orchestration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Deferred Data Use Enforcement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Communication Protocol Layering &amp; Bindings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1644762-338A-1A58-710A-F6B088A9AB02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7073378" y="1747731"/>
            <a:ext cx="1602525" cy="1873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BEB7D8B-971A-647F-DE94-56D8312798FA}"/>
              </a:ext>
            </a:extLst>
          </p:cNvPr>
          <p:cNvSpPr txBox="1"/>
          <p:nvPr/>
        </p:nvSpPr>
        <p:spPr>
          <a:xfrm>
            <a:off x="7126534" y="2225650"/>
            <a:ext cx="1462712" cy="6965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Orchestration triggers peer to peer data sharing and use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9F98B4-DFE5-D408-5AA9-55DF2D59D926}"/>
              </a:ext>
            </a:extLst>
          </p:cNvPr>
          <p:cNvSpPr/>
          <p:nvPr/>
        </p:nvSpPr>
        <p:spPr>
          <a:xfrm>
            <a:off x="270576" y="5812418"/>
            <a:ext cx="11042845" cy="950555"/>
          </a:xfrm>
          <a:prstGeom prst="round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3886200" marR="0" lvl="8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Space Governance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Dataspace Governance Authority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Membership Policy Framework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Trust Framework Establishment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Processes, Rules and Roles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 Level Policy Stack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BE751-2A43-41DE-4AB2-6CD3373A953F}"/>
              </a:ext>
            </a:extLst>
          </p:cNvPr>
          <p:cNvSpPr txBox="1"/>
          <p:nvPr/>
        </p:nvSpPr>
        <p:spPr>
          <a:xfrm>
            <a:off x="4398551" y="5581544"/>
            <a:ext cx="3457164" cy="200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DSGA Sets the overall framework for data sharing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498C0-2781-123C-9A12-FAF79C48AFE4}"/>
              </a:ext>
            </a:extLst>
          </p:cNvPr>
          <p:cNvSpPr txBox="1"/>
          <p:nvPr/>
        </p:nvSpPr>
        <p:spPr>
          <a:xfrm>
            <a:off x="3587829" y="3763728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Supports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9DEC09-0954-BF48-E24F-9B22B49F66F0}"/>
              </a:ext>
            </a:extLst>
          </p:cNvPr>
          <p:cNvCxnSpPr>
            <a:cxnSpLocks/>
            <a:stCxn id="2" idx="3"/>
            <a:endCxn id="57" idx="1"/>
          </p:cNvCxnSpPr>
          <p:nvPr/>
        </p:nvCxnSpPr>
        <p:spPr>
          <a:xfrm>
            <a:off x="2996156" y="4053983"/>
            <a:ext cx="1599612" cy="4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CAE06BB-9331-2056-5B8A-D294E8C4005C}"/>
              </a:ext>
            </a:extLst>
          </p:cNvPr>
          <p:cNvSpPr/>
          <p:nvPr/>
        </p:nvSpPr>
        <p:spPr>
          <a:xfrm>
            <a:off x="8647015" y="2542174"/>
            <a:ext cx="2477610" cy="11408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G. Observability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Observer Role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Transaction Log Sharing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Audit by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Observe Protocol Activities &amp; States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Observability processes and rules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814AB8-5D9E-BECC-CFE3-206983AE6299}"/>
              </a:ext>
            </a:extLst>
          </p:cNvPr>
          <p:cNvSpPr txBox="1"/>
          <p:nvPr/>
        </p:nvSpPr>
        <p:spPr>
          <a:xfrm>
            <a:off x="7571226" y="3215653"/>
            <a:ext cx="1445112" cy="1815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Orchestration generates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observable events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E29BC1-5E0A-872F-8576-DE2244A95F3D}"/>
              </a:ext>
            </a:extLst>
          </p:cNvPr>
          <p:cNvCxnSpPr>
            <a:cxnSpLocks/>
            <a:stCxn id="57" idx="3"/>
            <a:endCxn id="26" idx="1"/>
          </p:cNvCxnSpPr>
          <p:nvPr/>
        </p:nvCxnSpPr>
        <p:spPr>
          <a:xfrm flipV="1">
            <a:off x="7073378" y="3112575"/>
            <a:ext cx="1573637" cy="94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F050D6E-BEA9-B4FD-BEA8-63950FD0F569}"/>
              </a:ext>
            </a:extLst>
          </p:cNvPr>
          <p:cNvSpPr/>
          <p:nvPr/>
        </p:nvSpPr>
        <p:spPr>
          <a:xfrm>
            <a:off x="8675903" y="1281344"/>
            <a:ext cx="2477610" cy="932773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F. Actual data sharing &amp; use</a:t>
            </a:r>
            <a:b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Peer to Peer Data Sharing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Policy Enforcement 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Usage Control Hook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Confidential Processing Option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947EBF0-954A-2499-F80D-9D279722C5EC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>
            <a:off x="5834573" y="2303760"/>
            <a:ext cx="0" cy="118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688BE6E-8B32-B193-9EA8-1C646C702EAD}"/>
              </a:ext>
            </a:extLst>
          </p:cNvPr>
          <p:cNvSpPr txBox="1"/>
          <p:nvPr/>
        </p:nvSpPr>
        <p:spPr>
          <a:xfrm>
            <a:off x="4897554" y="2524811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Agreed contracts authorize orchestration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C516C5F-6897-B2B7-E944-BFAA661BD5EB}"/>
              </a:ext>
            </a:extLst>
          </p:cNvPr>
          <p:cNvCxnSpPr>
            <a:cxnSpLocks/>
            <a:stCxn id="2" idx="0"/>
            <a:endCxn id="41" idx="2"/>
          </p:cNvCxnSpPr>
          <p:nvPr/>
        </p:nvCxnSpPr>
        <p:spPr>
          <a:xfrm flipH="1" flipV="1">
            <a:off x="1755014" y="2303760"/>
            <a:ext cx="2337" cy="117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8" name="Rectangle: Rounded Corners 22537">
            <a:extLst>
              <a:ext uri="{FF2B5EF4-FFF2-40B4-BE49-F238E27FC236}">
                <a16:creationId xmlns:a16="http://schemas.microsoft.com/office/drawing/2014/main" id="{1D2DFA78-AAB7-1403-94E8-91C5A617A34C}"/>
              </a:ext>
            </a:extLst>
          </p:cNvPr>
          <p:cNvSpPr/>
          <p:nvPr/>
        </p:nvSpPr>
        <p:spPr>
          <a:xfrm>
            <a:off x="8647015" y="4085591"/>
            <a:ext cx="2477610" cy="1140802"/>
          </a:xfrm>
          <a:prstGeom prst="roundRect">
            <a:avLst/>
          </a:prstGeom>
          <a:noFill/>
          <a:ln>
            <a:solidFill>
              <a:srgbClr val="009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H. Optional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Marketplaces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Auditing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escrow &amp; confidential compute</a:t>
            </a:r>
            <a:endParaRPr kumimoji="0" lang="en-US" sz="11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539" name="Straight Arrow Connector 22538">
            <a:extLst>
              <a:ext uri="{FF2B5EF4-FFF2-40B4-BE49-F238E27FC236}">
                <a16:creationId xmlns:a16="http://schemas.microsoft.com/office/drawing/2014/main" id="{210BDC84-C582-2C58-9918-7E4679E4FE4A}"/>
              </a:ext>
            </a:extLst>
          </p:cNvPr>
          <p:cNvCxnSpPr>
            <a:cxnSpLocks/>
            <a:endCxn id="22538" idx="1"/>
          </p:cNvCxnSpPr>
          <p:nvPr/>
        </p:nvCxnSpPr>
        <p:spPr>
          <a:xfrm>
            <a:off x="7064416" y="4296156"/>
            <a:ext cx="1582599" cy="359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2542">
            <a:extLst>
              <a:ext uri="{FF2B5EF4-FFF2-40B4-BE49-F238E27FC236}">
                <a16:creationId xmlns:a16="http://schemas.microsoft.com/office/drawing/2014/main" id="{C91FF7AE-180F-2388-C67E-B5C748B776D6}"/>
              </a:ext>
            </a:extLst>
          </p:cNvPr>
          <p:cNvSpPr txBox="1"/>
          <p:nvPr/>
        </p:nvSpPr>
        <p:spPr>
          <a:xfrm>
            <a:off x="7553738" y="4268182"/>
            <a:ext cx="1251468" cy="227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Provides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inputs for</a:t>
            </a:r>
          </a:p>
        </p:txBody>
      </p:sp>
      <p:sp>
        <p:nvSpPr>
          <p:cNvPr id="22546" name="Rectangle: Rounded Corners 22545">
            <a:extLst>
              <a:ext uri="{FF2B5EF4-FFF2-40B4-BE49-F238E27FC236}">
                <a16:creationId xmlns:a16="http://schemas.microsoft.com/office/drawing/2014/main" id="{B2F9C942-777F-D5A7-AEF1-BB99312F7F55}"/>
              </a:ext>
            </a:extLst>
          </p:cNvPr>
          <p:cNvSpPr/>
          <p:nvPr/>
        </p:nvSpPr>
        <p:spPr>
          <a:xfrm>
            <a:off x="270576" y="924911"/>
            <a:ext cx="11042845" cy="4552820"/>
          </a:xfrm>
          <a:prstGeom prst="round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547" name="Straight Arrow Connector 22546">
            <a:extLst>
              <a:ext uri="{FF2B5EF4-FFF2-40B4-BE49-F238E27FC236}">
                <a16:creationId xmlns:a16="http://schemas.microsoft.com/office/drawing/2014/main" id="{04E6D3BA-4709-1905-B5B0-BE3D2C405593}"/>
              </a:ext>
            </a:extLst>
          </p:cNvPr>
          <p:cNvCxnSpPr>
            <a:cxnSpLocks/>
          </p:cNvCxnSpPr>
          <p:nvPr/>
        </p:nvCxnSpPr>
        <p:spPr>
          <a:xfrm flipH="1" flipV="1">
            <a:off x="5895445" y="5459770"/>
            <a:ext cx="1" cy="38134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0ACD5C3-999F-89B5-A304-3609A8C90969}"/>
              </a:ext>
            </a:extLst>
          </p:cNvPr>
          <p:cNvSpPr txBox="1"/>
          <p:nvPr/>
        </p:nvSpPr>
        <p:spPr>
          <a:xfrm rot="16200000">
            <a:off x="9309399" y="3874154"/>
            <a:ext cx="5479534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lti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-level Policies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B445F7-E009-739A-308E-6B08FA96EB24}"/>
              </a:ext>
            </a:extLst>
          </p:cNvPr>
          <p:cNvSpPr txBox="1"/>
          <p:nvPr/>
        </p:nvSpPr>
        <p:spPr>
          <a:xfrm rot="16200000">
            <a:off x="11397131" y="5939888"/>
            <a:ext cx="697453" cy="4616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DSGA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 Actions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9E1EDC-7B66-A49C-7741-691C8487DC48}"/>
              </a:ext>
            </a:extLst>
          </p:cNvPr>
          <p:cNvSpPr txBox="1"/>
          <p:nvPr/>
        </p:nvSpPr>
        <p:spPr>
          <a:xfrm rot="16200000">
            <a:off x="10770194" y="2954338"/>
            <a:ext cx="1660467" cy="1883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Participant Actions</a:t>
            </a:r>
          </a:p>
        </p:txBody>
      </p:sp>
      <p:grpSp>
        <p:nvGrpSpPr>
          <p:cNvPr id="35" name="Gruppieren 10">
            <a:extLst>
              <a:ext uri="{FF2B5EF4-FFF2-40B4-BE49-F238E27FC236}">
                <a16:creationId xmlns:a16="http://schemas.microsoft.com/office/drawing/2014/main" id="{57A98A7B-A596-466E-0688-80B6B7A32875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11572936" y="3793848"/>
            <a:ext cx="188392" cy="430570"/>
            <a:chOff x="1474539" y="4910386"/>
            <a:chExt cx="738000" cy="1531864"/>
          </a:xfrm>
        </p:grpSpPr>
        <p:sp>
          <p:nvSpPr>
            <p:cNvPr id="36" name="Ellipse 11">
              <a:extLst>
                <a:ext uri="{FF2B5EF4-FFF2-40B4-BE49-F238E27FC236}">
                  <a16:creationId xmlns:a16="http://schemas.microsoft.com/office/drawing/2014/main" id="{16CF13F9-9EE7-3C48-0047-95DFF747CE2F}"/>
                </a:ext>
              </a:extLst>
            </p:cNvPr>
            <p:cNvSpPr/>
            <p:nvPr/>
          </p:nvSpPr>
          <p:spPr>
            <a:xfrm>
              <a:off x="1617562" y="4910386"/>
              <a:ext cx="451953" cy="449537"/>
            </a:xfrm>
            <a:prstGeom prst="ellipse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7" name="Bogen 12">
              <a:extLst>
                <a:ext uri="{FF2B5EF4-FFF2-40B4-BE49-F238E27FC236}">
                  <a16:creationId xmlns:a16="http://schemas.microsoft.com/office/drawing/2014/main" id="{1F8A87BE-7A86-BE3B-D731-1353A26A8DCD}"/>
                </a:ext>
              </a:extLst>
            </p:cNvPr>
            <p:cNvSpPr/>
            <p:nvPr/>
          </p:nvSpPr>
          <p:spPr>
            <a:xfrm>
              <a:off x="1483121" y="5451549"/>
              <a:ext cx="720837" cy="990701"/>
            </a:xfrm>
            <a:prstGeom prst="arc">
              <a:avLst>
                <a:gd name="adj1" fmla="val 10701574"/>
                <a:gd name="adj2" fmla="val 136483"/>
              </a:avLst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38" name="Gerade Verbindung mit Pfeil 13">
              <a:extLst>
                <a:ext uri="{FF2B5EF4-FFF2-40B4-BE49-F238E27FC236}">
                  <a16:creationId xmlns:a16="http://schemas.microsoft.com/office/drawing/2014/main" id="{09FD854A-D386-56E2-1D64-4157945EFB6E}"/>
                </a:ext>
              </a:extLst>
            </p:cNvPr>
            <p:cNvCxnSpPr>
              <a:cxnSpLocks/>
            </p:cNvCxnSpPr>
            <p:nvPr/>
          </p:nvCxnSpPr>
          <p:spPr>
            <a:xfrm>
              <a:off x="1474539" y="5949763"/>
              <a:ext cx="738000" cy="0"/>
            </a:xfrm>
            <a:prstGeom prst="straightConnector1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9" name="Gruppieren 10">
            <a:extLst>
              <a:ext uri="{FF2B5EF4-FFF2-40B4-BE49-F238E27FC236}">
                <a16:creationId xmlns:a16="http://schemas.microsoft.com/office/drawing/2014/main" id="{A1FC6102-FC42-1C60-DD29-C34CA7A2EFF8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11572936" y="6455681"/>
            <a:ext cx="188392" cy="430570"/>
            <a:chOff x="1474539" y="4910386"/>
            <a:chExt cx="738000" cy="1531864"/>
          </a:xfrm>
        </p:grpSpPr>
        <p:sp>
          <p:nvSpPr>
            <p:cNvPr id="40" name="Ellipse 11">
              <a:extLst>
                <a:ext uri="{FF2B5EF4-FFF2-40B4-BE49-F238E27FC236}">
                  <a16:creationId xmlns:a16="http://schemas.microsoft.com/office/drawing/2014/main" id="{98C620C8-A970-24AA-9B59-29C0AA958C54}"/>
                </a:ext>
              </a:extLst>
            </p:cNvPr>
            <p:cNvSpPr/>
            <p:nvPr/>
          </p:nvSpPr>
          <p:spPr>
            <a:xfrm>
              <a:off x="1617562" y="4910386"/>
              <a:ext cx="451953" cy="449537"/>
            </a:xfrm>
            <a:prstGeom prst="ellipse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2" name="Bogen 12">
              <a:extLst>
                <a:ext uri="{FF2B5EF4-FFF2-40B4-BE49-F238E27FC236}">
                  <a16:creationId xmlns:a16="http://schemas.microsoft.com/office/drawing/2014/main" id="{1FDFD327-1ED3-F6A2-517E-47964432B637}"/>
                </a:ext>
              </a:extLst>
            </p:cNvPr>
            <p:cNvSpPr/>
            <p:nvPr/>
          </p:nvSpPr>
          <p:spPr>
            <a:xfrm>
              <a:off x="1483121" y="5451549"/>
              <a:ext cx="720837" cy="990701"/>
            </a:xfrm>
            <a:prstGeom prst="arc">
              <a:avLst>
                <a:gd name="adj1" fmla="val 10701574"/>
                <a:gd name="adj2" fmla="val 136483"/>
              </a:avLst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43" name="Gerade Verbindung mit Pfeil 13">
              <a:extLst>
                <a:ext uri="{FF2B5EF4-FFF2-40B4-BE49-F238E27FC236}">
                  <a16:creationId xmlns:a16="http://schemas.microsoft.com/office/drawing/2014/main" id="{62BA23A6-EACA-D8FE-2672-C6591BEE66F6}"/>
                </a:ext>
              </a:extLst>
            </p:cNvPr>
            <p:cNvCxnSpPr>
              <a:cxnSpLocks/>
            </p:cNvCxnSpPr>
            <p:nvPr/>
          </p:nvCxnSpPr>
          <p:spPr>
            <a:xfrm>
              <a:off x="1474539" y="5949763"/>
              <a:ext cx="738000" cy="0"/>
            </a:xfrm>
            <a:prstGeom prst="straightConnector1">
              <a:avLst/>
            </a:prstGeom>
            <a:noFill/>
            <a:ln w="28575">
              <a:solidFill>
                <a:srgbClr val="009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85F2D0-B640-06AE-3B9B-934CAD741580}"/>
              </a:ext>
            </a:extLst>
          </p:cNvPr>
          <p:cNvCxnSpPr>
            <a:cxnSpLocks/>
          </p:cNvCxnSpPr>
          <p:nvPr/>
        </p:nvCxnSpPr>
        <p:spPr>
          <a:xfrm>
            <a:off x="9885820" y="3682976"/>
            <a:ext cx="0" cy="402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4F9A495-1789-C96D-AAE5-60A7A455B174}"/>
              </a:ext>
            </a:extLst>
          </p:cNvPr>
          <p:cNvSpPr txBox="1"/>
          <p:nvPr/>
        </p:nvSpPr>
        <p:spPr>
          <a:xfrm>
            <a:off x="9244260" y="3713911"/>
            <a:ext cx="913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enables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580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BFCA-8467-572E-8E35-13A1D57E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E5EB4-21FB-C68A-CC05-735C886F8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Draft document </a:t>
            </a:r>
            <a:r>
              <a:rPr lang="en-US" dirty="0"/>
              <a:t>on new IDSA Working Groups SharePoint: </a:t>
            </a:r>
            <a:r>
              <a:rPr lang="en-GB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Architectural Artefacts</a:t>
            </a:r>
            <a:endParaRPr lang="en-GB" dirty="0">
              <a:solidFill>
                <a:schemeClr val="tx2"/>
              </a:solidFill>
            </a:endParaRPr>
          </a:p>
          <a:p>
            <a:pPr marL="5377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</a:endParaRPr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Shorter version on GitHub: </a:t>
            </a:r>
            <a:r>
              <a:rPr lang="en-GB" dirty="0">
                <a:hlinkClick r:id="rId3"/>
              </a:rPr>
              <a:t>https://github.com/International-Data-Spaces-Association/IDS-RAM/pull/110</a:t>
            </a:r>
            <a:endParaRPr lang="en-GB" dirty="0"/>
          </a:p>
          <a:p>
            <a:pPr marL="5377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537750" lvl="1" indent="-285750">
              <a:buFont typeface="Arial" panose="020B0604020202020204" pitchFamily="34" charset="0"/>
              <a:buChar char="•"/>
            </a:pPr>
            <a:r>
              <a:rPr lang="en-US" dirty="0"/>
              <a:t>Asking for </a:t>
            </a:r>
            <a:r>
              <a:rPr lang="en-US" b="1" dirty="0"/>
              <a:t>your review </a:t>
            </a:r>
            <a:r>
              <a:rPr lang="en-US" dirty="0"/>
              <a:t>and</a:t>
            </a:r>
            <a:r>
              <a:rPr lang="en-US" b="1" dirty="0"/>
              <a:t> contributions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7A672B-D84F-8C0A-F949-43CCFD9E6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for RAM architectural capabilities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264C83-6EEE-A61F-8866-43681D0C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Draft document</a:t>
            </a:r>
          </a:p>
        </p:txBody>
      </p:sp>
    </p:spTree>
    <p:extLst>
      <p:ext uri="{BB962C8B-B14F-4D97-AF65-F5344CB8AC3E}">
        <p14:creationId xmlns:p14="http://schemas.microsoft.com/office/powerpoint/2010/main" val="344249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9_International Data Spaces">
  <a:themeElements>
    <a:clrScheme name="IDSA">
      <a:dk1>
        <a:sysClr val="windowText" lastClr="000000"/>
      </a:dk1>
      <a:lt1>
        <a:sysClr val="window" lastClr="FFFFFF"/>
      </a:lt1>
      <a:dk2>
        <a:srgbClr val="0BA2E3"/>
      </a:dk2>
      <a:lt2>
        <a:srgbClr val="B4B4B4"/>
      </a:lt2>
      <a:accent1>
        <a:srgbClr val="6F6F6E"/>
      </a:accent1>
      <a:accent2>
        <a:srgbClr val="263482"/>
      </a:accent2>
      <a:accent3>
        <a:srgbClr val="3DA434"/>
      </a:accent3>
      <a:accent4>
        <a:srgbClr val="E5007D"/>
      </a:accent4>
      <a:accent5>
        <a:srgbClr val="FFED00"/>
      </a:accent5>
      <a:accent6>
        <a:srgbClr val="CD1316"/>
      </a:accent6>
      <a:hlink>
        <a:srgbClr val="000000"/>
      </a:hlink>
      <a:folHlink>
        <a:srgbClr val="6F6F6E"/>
      </a:folHlink>
    </a:clrScheme>
    <a:fontScheme name="International Data Spaces Associati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72000" tIns="36000" rIns="72000" bIns="3600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DSA_Master_V01.potx" id="{CFDB2FC5-5B74-47BA-B067-697F022D7AFC}" vid="{D46154BD-3566-4FB4-8739-26ADB60863B3}"/>
    </a:ext>
  </a:extLst>
</a:theme>
</file>

<file path=ppt/theme/theme3.xml><?xml version="1.0" encoding="utf-8"?>
<a:theme xmlns:a="http://schemas.openxmlformats.org/drawingml/2006/main" name="International Data Spaces">
  <a:themeElements>
    <a:clrScheme name="IDSA">
      <a:dk1>
        <a:sysClr val="windowText" lastClr="000000"/>
      </a:dk1>
      <a:lt1>
        <a:sysClr val="window" lastClr="FFFFFF"/>
      </a:lt1>
      <a:dk2>
        <a:srgbClr val="0BA2E3"/>
      </a:dk2>
      <a:lt2>
        <a:srgbClr val="B4B4B4"/>
      </a:lt2>
      <a:accent1>
        <a:srgbClr val="6F6F6E"/>
      </a:accent1>
      <a:accent2>
        <a:srgbClr val="263482"/>
      </a:accent2>
      <a:accent3>
        <a:srgbClr val="3DA434"/>
      </a:accent3>
      <a:accent4>
        <a:srgbClr val="E5007D"/>
      </a:accent4>
      <a:accent5>
        <a:srgbClr val="FFED00"/>
      </a:accent5>
      <a:accent6>
        <a:srgbClr val="CD1316"/>
      </a:accent6>
      <a:hlink>
        <a:srgbClr val="000000"/>
      </a:hlink>
      <a:folHlink>
        <a:srgbClr val="6F6F6E"/>
      </a:folHlink>
    </a:clrScheme>
    <a:fontScheme name="International Data Spaces Associati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72000" tIns="36000" rIns="72000" bIns="3600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DSA_Master_V02.potx" id="{64D9FD72-55A1-45E7-B451-CC61D909926C}" vid="{EF5A0333-32DF-4899-8A36-D1A6CFF1EA15}"/>
    </a:ext>
  </a:extLst>
</a:theme>
</file>

<file path=ppt/theme/theme4.xml><?xml version="1.0" encoding="utf-8"?>
<a:theme xmlns:a="http://schemas.openxmlformats.org/drawingml/2006/main" name="4_International Data Spaces">
  <a:themeElements>
    <a:clrScheme name="IDSA">
      <a:dk1>
        <a:sysClr val="windowText" lastClr="000000"/>
      </a:dk1>
      <a:lt1>
        <a:sysClr val="window" lastClr="FFFFFF"/>
      </a:lt1>
      <a:dk2>
        <a:srgbClr val="0BA2E3"/>
      </a:dk2>
      <a:lt2>
        <a:srgbClr val="B4B4B4"/>
      </a:lt2>
      <a:accent1>
        <a:srgbClr val="6F6F6E"/>
      </a:accent1>
      <a:accent2>
        <a:srgbClr val="263482"/>
      </a:accent2>
      <a:accent3>
        <a:srgbClr val="3DA434"/>
      </a:accent3>
      <a:accent4>
        <a:srgbClr val="E5007D"/>
      </a:accent4>
      <a:accent5>
        <a:srgbClr val="FFED00"/>
      </a:accent5>
      <a:accent6>
        <a:srgbClr val="CD1316"/>
      </a:accent6>
      <a:hlink>
        <a:srgbClr val="000000"/>
      </a:hlink>
      <a:folHlink>
        <a:srgbClr val="6F6F6E"/>
      </a:folHlink>
    </a:clrScheme>
    <a:fontScheme name="International Data Spaces Associati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72000" tIns="36000" rIns="72000" bIns="3600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DSA_Master_V02.potx" id="{64D9FD72-55A1-45E7-B451-CC61D909926C}" vid="{EF5A0333-32DF-4899-8A36-D1A6CFF1EA15}"/>
    </a:ext>
  </a:extLst>
</a:theme>
</file>

<file path=ppt/theme/theme5.xml><?xml version="1.0" encoding="utf-8"?>
<a:theme xmlns:a="http://schemas.openxmlformats.org/drawingml/2006/main" name="10_International Data Spaces">
  <a:themeElements>
    <a:clrScheme name="IDSA">
      <a:dk1>
        <a:sysClr val="windowText" lastClr="000000"/>
      </a:dk1>
      <a:lt1>
        <a:sysClr val="window" lastClr="FFFFFF"/>
      </a:lt1>
      <a:dk2>
        <a:srgbClr val="0BA2E3"/>
      </a:dk2>
      <a:lt2>
        <a:srgbClr val="B4B4B4"/>
      </a:lt2>
      <a:accent1>
        <a:srgbClr val="6F6F6E"/>
      </a:accent1>
      <a:accent2>
        <a:srgbClr val="263482"/>
      </a:accent2>
      <a:accent3>
        <a:srgbClr val="3DA434"/>
      </a:accent3>
      <a:accent4>
        <a:srgbClr val="E5007D"/>
      </a:accent4>
      <a:accent5>
        <a:srgbClr val="FFED00"/>
      </a:accent5>
      <a:accent6>
        <a:srgbClr val="CD1316"/>
      </a:accent6>
      <a:hlink>
        <a:srgbClr val="000000"/>
      </a:hlink>
      <a:folHlink>
        <a:srgbClr val="6F6F6E"/>
      </a:folHlink>
    </a:clrScheme>
    <a:fontScheme name="International Data Spaces Associati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72000" tIns="36000" rIns="72000" bIns="3600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DSA_Master_V01.potx" id="{CFDB2FC5-5B74-47BA-B067-697F022D7AFC}" vid="{D46154BD-3566-4FB4-8739-26ADB60863B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aeb3e4-6c3c-4566-ba9b-eee2b0e4d746" xsi:nil="true"/>
    <lcf76f155ced4ddcb4097134ff3c332f xmlns="2defc9c1-6dfc-43bb-925d-678ad6c6eb8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9C1C2318F196478D2783B03F54226B" ma:contentTypeVersion="11" ma:contentTypeDescription="Create a new document." ma:contentTypeScope="" ma:versionID="341ccd1dbca512d224be88d3f3a95874">
  <xsd:schema xmlns:xsd="http://www.w3.org/2001/XMLSchema" xmlns:xs="http://www.w3.org/2001/XMLSchema" xmlns:p="http://schemas.microsoft.com/office/2006/metadata/properties" xmlns:ns2="2defc9c1-6dfc-43bb-925d-678ad6c6eb80" xmlns:ns3="28aeb3e4-6c3c-4566-ba9b-eee2b0e4d746" targetNamespace="http://schemas.microsoft.com/office/2006/metadata/properties" ma:root="true" ma:fieldsID="2f57776d4dadfb58e13bb0709050feb3" ns2:_="" ns3:_="">
    <xsd:import namespace="2defc9c1-6dfc-43bb-925d-678ad6c6eb80"/>
    <xsd:import namespace="28aeb3e4-6c3c-4566-ba9b-eee2b0e4d7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efc9c1-6dfc-43bb-925d-678ad6c6e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38a5130-dcd2-41f6-9fbf-12228a3317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aeb3e4-6c3c-4566-ba9b-eee2b0e4d74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121b48c-9bf2-48b5-a3ec-bc9dbca73f74}" ma:internalName="TaxCatchAll" ma:showField="CatchAllData" ma:web="28aeb3e4-6c3c-4566-ba9b-eee2b0e4d7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8A1CE8-4EB8-4D4E-98F6-FCFC5D019F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1ACC82-CB11-4E8A-84D1-0BBCB644B3B1}">
  <ds:schemaRefs>
    <ds:schemaRef ds:uri="http://www.w3.org/XML/1998/namespace"/>
    <ds:schemaRef ds:uri="http://purl.org/dc/terms/"/>
    <ds:schemaRef ds:uri="28aeb3e4-6c3c-4566-ba9b-eee2b0e4d746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2defc9c1-6dfc-43bb-925d-678ad6c6eb8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4AFF090-FCF2-481F-B3EF-6556E5BE4C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efc9c1-6dfc-43bb-925d-678ad6c6eb80"/>
    <ds:schemaRef ds:uri="28aeb3e4-6c3c-4566-ba9b-eee2b0e4d7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Microsoft Office PowerPoint</Application>
  <PresentationFormat>Widescreen</PresentationFormat>
  <Paragraphs>221</Paragraphs>
  <Slides>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Aptos</vt:lpstr>
      <vt:lpstr>Aptos Display</vt:lpstr>
      <vt:lpstr>Arial</vt:lpstr>
      <vt:lpstr>Droid Sans</vt:lpstr>
      <vt:lpstr>Georgia</vt:lpstr>
      <vt:lpstr>Segoe UI</vt:lpstr>
      <vt:lpstr>Office Theme</vt:lpstr>
      <vt:lpstr>9_International Data Spaces</vt:lpstr>
      <vt:lpstr>International Data Spaces</vt:lpstr>
      <vt:lpstr>4_International Data Spaces</vt:lpstr>
      <vt:lpstr>10_International Data Spaces</vt:lpstr>
      <vt:lpstr>think-cell Folie</vt:lpstr>
      <vt:lpstr>PowerPoint Presentation</vt:lpstr>
      <vt:lpstr>Working on the next version of IDS-RAM</vt:lpstr>
      <vt:lpstr>RAM Architectural Capabilities and Patterns</vt:lpstr>
      <vt:lpstr>PowerPoint Presentation</vt:lpstr>
      <vt:lpstr>Relations and dependencies between the characteristics</vt:lpstr>
      <vt:lpstr>IDS-RAM Architectural Capabilities</vt:lpstr>
      <vt:lpstr>Mapping to specifications</vt:lpstr>
      <vt:lpstr> A pattern language for data spaces – an example</vt:lpstr>
      <vt:lpstr>Draft document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Ilknur Chulani</dc:creator>
  <cp:lastModifiedBy>Ilknur Chulani</cp:lastModifiedBy>
  <cp:revision>1</cp:revision>
  <dcterms:created xsi:type="dcterms:W3CDTF">2026-03-12T13:20:57Z</dcterms:created>
  <dcterms:modified xsi:type="dcterms:W3CDTF">2026-09-17T11:12:23Z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0x010100A79C1C2318F196478D2783B03F54226B</vt:lpwstr>
  </property>
  <property fmtid="{D5CDD505-2E9C-101B-9397-08002B2CF9AE}" pid="3" name="Order">
    <vt:r8>34900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